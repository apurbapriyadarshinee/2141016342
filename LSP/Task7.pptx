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Comfortaa Bold" charset="1" panose="00000800000000000000"/>
      <p:regular r:id="rId14"/>
    </p:embeddedFont>
    <p:embeddedFont>
      <p:font typeface="Raleway Medium" charset="1" panose="000000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B1B1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7272B"/>
            </a:solidFill>
          </p:spPr>
        </p:sp>
      </p:grpSp>
      <p:sp>
        <p:nvSpPr>
          <p:cNvPr name="Freeform 6" id="6" descr="preencoded.png"/>
          <p:cNvSpPr/>
          <p:nvPr/>
        </p:nvSpPr>
        <p:spPr>
          <a:xfrm flipH="false" flipV="false" rot="0">
            <a:off x="0" y="0"/>
            <a:ext cx="6858000" cy="10287000"/>
          </a:xfrm>
          <a:custGeom>
            <a:avLst/>
            <a:gdLst/>
            <a:ahLst/>
            <a:cxnLst/>
            <a:rect r="r" b="b" t="t" l="l"/>
            <a:pathLst>
              <a:path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7938046" y="2885480"/>
            <a:ext cx="9269909" cy="2571750"/>
            <a:chOff x="0" y="0"/>
            <a:chExt cx="12359878" cy="3429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359878" cy="3429000"/>
            </a:xfrm>
            <a:custGeom>
              <a:avLst/>
              <a:gdLst/>
              <a:ahLst/>
              <a:cxnLst/>
              <a:rect r="r" b="b" t="t" l="l"/>
              <a:pathLst>
                <a:path h="3429000" w="12359878">
                  <a:moveTo>
                    <a:pt x="0" y="0"/>
                  </a:moveTo>
                  <a:lnTo>
                    <a:pt x="12359878" y="0"/>
                  </a:lnTo>
                  <a:lnTo>
                    <a:pt x="12359878" y="3429000"/>
                  </a:lnTo>
                  <a:lnTo>
                    <a:pt x="0" y="3429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2359878" cy="346710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6749"/>
                </a:lnSpc>
              </a:pPr>
              <a:r>
                <a:rPr lang="en-US" sz="5374" b="true">
                  <a:solidFill>
                    <a:srgbClr val="FFE14D"/>
                  </a:solidFill>
                  <a:latin typeface="Comfortaa Bold"/>
                  <a:ea typeface="Comfortaa Bold"/>
                  <a:cs typeface="Comfortaa Bold"/>
                  <a:sym typeface="Comfortaa Bold"/>
                </a:rPr>
                <a:t>Segmentation and Paging: Memory Management Techniques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938046" y="5920085"/>
            <a:ext cx="9269909" cy="1481435"/>
            <a:chOff x="0" y="0"/>
            <a:chExt cx="12359878" cy="197524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359878" cy="1975247"/>
            </a:xfrm>
            <a:custGeom>
              <a:avLst/>
              <a:gdLst/>
              <a:ahLst/>
              <a:cxnLst/>
              <a:rect r="r" b="b" t="t" l="l"/>
              <a:pathLst>
                <a:path h="1975247" w="12359878">
                  <a:moveTo>
                    <a:pt x="0" y="0"/>
                  </a:moveTo>
                  <a:lnTo>
                    <a:pt x="12359878" y="0"/>
                  </a:lnTo>
                  <a:lnTo>
                    <a:pt x="12359878" y="1975247"/>
                  </a:lnTo>
                  <a:lnTo>
                    <a:pt x="0" y="19752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04775"/>
              <a:ext cx="12359878" cy="208002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875"/>
                </a:lnSpc>
              </a:pPr>
              <a:r>
                <a:rPr lang="en-US" sz="2375" b="true">
                  <a:solidFill>
                    <a:srgbClr val="D7D4CC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This presentation explains segmentation and paging, two key memory management methods. They ensure efficient, secure use of memory in today's operating systems.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B1B1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7272B"/>
            </a:solidFill>
          </p:spPr>
        </p:sp>
      </p:grpSp>
      <p:sp>
        <p:nvSpPr>
          <p:cNvPr name="Freeform 6" id="6" descr="preencoded.png"/>
          <p:cNvSpPr/>
          <p:nvPr/>
        </p:nvSpPr>
        <p:spPr>
          <a:xfrm flipH="false" flipV="false" rot="0">
            <a:off x="0" y="0"/>
            <a:ext cx="18288000" cy="3797796"/>
          </a:xfrm>
          <a:custGeom>
            <a:avLst/>
            <a:gdLst/>
            <a:ahLst/>
            <a:cxnLst/>
            <a:rect r="r" b="b" t="t" l="l"/>
            <a:pathLst>
              <a:path h="3797796" w="18288000">
                <a:moveTo>
                  <a:pt x="0" y="0"/>
                </a:moveTo>
                <a:lnTo>
                  <a:pt x="18288000" y="0"/>
                </a:lnTo>
                <a:lnTo>
                  <a:pt x="18288000" y="3797796"/>
                </a:lnTo>
                <a:lnTo>
                  <a:pt x="0" y="37977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5" r="0" b="-35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63377" y="4878735"/>
            <a:ext cx="16161246" cy="1688009"/>
            <a:chOff x="0" y="0"/>
            <a:chExt cx="21548328" cy="225067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548328" cy="2250678"/>
            </a:xfrm>
            <a:custGeom>
              <a:avLst/>
              <a:gdLst/>
              <a:ahLst/>
              <a:cxnLst/>
              <a:rect r="r" b="b" t="t" l="l"/>
              <a:pathLst>
                <a:path h="2250678" w="21548328">
                  <a:moveTo>
                    <a:pt x="0" y="0"/>
                  </a:moveTo>
                  <a:lnTo>
                    <a:pt x="21548328" y="0"/>
                  </a:lnTo>
                  <a:lnTo>
                    <a:pt x="21548328" y="2250678"/>
                  </a:lnTo>
                  <a:lnTo>
                    <a:pt x="0" y="22506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1548328" cy="228877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6625"/>
                </a:lnSpc>
              </a:pPr>
              <a:r>
                <a:rPr lang="en-US" sz="5312" b="true">
                  <a:solidFill>
                    <a:srgbClr val="FFE14D"/>
                  </a:solidFill>
                  <a:latin typeface="Comfortaa Bold"/>
                  <a:ea typeface="Comfortaa Bold"/>
                  <a:cs typeface="Comfortaa Bold"/>
                  <a:sym typeface="Comfortaa Bold"/>
                </a:rPr>
                <a:t>Segmentation: Dividing Memory into Logical Units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63377" y="7022455"/>
            <a:ext cx="5184576" cy="2183457"/>
            <a:chOff x="0" y="0"/>
            <a:chExt cx="6912768" cy="291127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912864" cy="2911348"/>
            </a:xfrm>
            <a:custGeom>
              <a:avLst/>
              <a:gdLst/>
              <a:ahLst/>
              <a:cxnLst/>
              <a:rect r="r" b="b" t="t" l="l"/>
              <a:pathLst>
                <a:path h="2911348" w="6912864">
                  <a:moveTo>
                    <a:pt x="0" y="607695"/>
                  </a:moveTo>
                  <a:cubicBezTo>
                    <a:pt x="0" y="272034"/>
                    <a:pt x="272034" y="0"/>
                    <a:pt x="607695" y="0"/>
                  </a:cubicBezTo>
                  <a:lnTo>
                    <a:pt x="6305169" y="0"/>
                  </a:lnTo>
                  <a:cubicBezTo>
                    <a:pt x="6640703" y="0"/>
                    <a:pt x="6912864" y="272034"/>
                    <a:pt x="6912864" y="607695"/>
                  </a:cubicBezTo>
                  <a:lnTo>
                    <a:pt x="6912864" y="2303653"/>
                  </a:lnTo>
                  <a:cubicBezTo>
                    <a:pt x="6912864" y="2639187"/>
                    <a:pt x="6640830" y="2911348"/>
                    <a:pt x="6305169" y="2911348"/>
                  </a:cubicBezTo>
                  <a:lnTo>
                    <a:pt x="607695" y="2911348"/>
                  </a:lnTo>
                  <a:cubicBezTo>
                    <a:pt x="272034" y="2911221"/>
                    <a:pt x="0" y="2639187"/>
                    <a:pt x="0" y="2303653"/>
                  </a:cubicBezTo>
                  <a:close/>
                </a:path>
              </a:pathLst>
            </a:custGeom>
            <a:solidFill>
              <a:srgbClr val="46464A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67135" y="7326214"/>
            <a:ext cx="3375720" cy="421927"/>
            <a:chOff x="0" y="0"/>
            <a:chExt cx="4500960" cy="56257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500960" cy="562570"/>
            </a:xfrm>
            <a:custGeom>
              <a:avLst/>
              <a:gdLst/>
              <a:ahLst/>
              <a:cxnLst/>
              <a:rect r="r" b="b" t="t" l="l"/>
              <a:pathLst>
                <a:path h="562570" w="4500960">
                  <a:moveTo>
                    <a:pt x="0" y="0"/>
                  </a:moveTo>
                  <a:lnTo>
                    <a:pt x="4500960" y="0"/>
                  </a:lnTo>
                  <a:lnTo>
                    <a:pt x="4500960" y="562570"/>
                  </a:lnTo>
                  <a:lnTo>
                    <a:pt x="0" y="56257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4500960" cy="58162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312"/>
                </a:lnSpc>
              </a:pPr>
              <a:r>
                <a:rPr lang="en-US" sz="2625" b="true">
                  <a:solidFill>
                    <a:srgbClr val="D7D4CC"/>
                  </a:solidFill>
                  <a:latin typeface="Comfortaa Bold"/>
                  <a:ea typeface="Comfortaa Bold"/>
                  <a:cs typeface="Comfortaa Bold"/>
                  <a:sym typeface="Comfortaa Bold"/>
                </a:rPr>
                <a:t>Definition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67135" y="7930306"/>
            <a:ext cx="4577060" cy="971847"/>
            <a:chOff x="0" y="0"/>
            <a:chExt cx="6102747" cy="129579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102747" cy="1295797"/>
            </a:xfrm>
            <a:custGeom>
              <a:avLst/>
              <a:gdLst/>
              <a:ahLst/>
              <a:cxnLst/>
              <a:rect r="r" b="b" t="t" l="l"/>
              <a:pathLst>
                <a:path h="1295797" w="6102747">
                  <a:moveTo>
                    <a:pt x="0" y="0"/>
                  </a:moveTo>
                  <a:lnTo>
                    <a:pt x="6102747" y="0"/>
                  </a:lnTo>
                  <a:lnTo>
                    <a:pt x="6102747" y="1295797"/>
                  </a:lnTo>
                  <a:lnTo>
                    <a:pt x="0" y="12957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04775"/>
              <a:ext cx="6102747" cy="140057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812"/>
                </a:lnSpc>
              </a:pPr>
              <a:r>
                <a:rPr lang="en-US" sz="2375" b="true">
                  <a:solidFill>
                    <a:srgbClr val="D7D4CC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Memory is divided into variable-sized logical segments.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551711" y="7022455"/>
            <a:ext cx="5184576" cy="2183457"/>
            <a:chOff x="0" y="0"/>
            <a:chExt cx="6912768" cy="291127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912864" cy="2911348"/>
            </a:xfrm>
            <a:custGeom>
              <a:avLst/>
              <a:gdLst/>
              <a:ahLst/>
              <a:cxnLst/>
              <a:rect r="r" b="b" t="t" l="l"/>
              <a:pathLst>
                <a:path h="2911348" w="6912864">
                  <a:moveTo>
                    <a:pt x="0" y="607695"/>
                  </a:moveTo>
                  <a:cubicBezTo>
                    <a:pt x="0" y="272034"/>
                    <a:pt x="272034" y="0"/>
                    <a:pt x="607695" y="0"/>
                  </a:cubicBezTo>
                  <a:lnTo>
                    <a:pt x="6305169" y="0"/>
                  </a:lnTo>
                  <a:cubicBezTo>
                    <a:pt x="6640703" y="0"/>
                    <a:pt x="6912864" y="272034"/>
                    <a:pt x="6912864" y="607695"/>
                  </a:cubicBezTo>
                  <a:lnTo>
                    <a:pt x="6912864" y="2303653"/>
                  </a:lnTo>
                  <a:cubicBezTo>
                    <a:pt x="6912864" y="2639187"/>
                    <a:pt x="6640830" y="2911348"/>
                    <a:pt x="6305169" y="2911348"/>
                  </a:cubicBezTo>
                  <a:lnTo>
                    <a:pt x="607695" y="2911348"/>
                  </a:lnTo>
                  <a:cubicBezTo>
                    <a:pt x="272034" y="2911221"/>
                    <a:pt x="0" y="2639187"/>
                    <a:pt x="0" y="2303653"/>
                  </a:cubicBezTo>
                  <a:close/>
                </a:path>
              </a:pathLst>
            </a:custGeom>
            <a:solidFill>
              <a:srgbClr val="46464A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855470" y="7326214"/>
            <a:ext cx="3375720" cy="421927"/>
            <a:chOff x="0" y="0"/>
            <a:chExt cx="4500960" cy="56257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500960" cy="562570"/>
            </a:xfrm>
            <a:custGeom>
              <a:avLst/>
              <a:gdLst/>
              <a:ahLst/>
              <a:cxnLst/>
              <a:rect r="r" b="b" t="t" l="l"/>
              <a:pathLst>
                <a:path h="562570" w="4500960">
                  <a:moveTo>
                    <a:pt x="0" y="0"/>
                  </a:moveTo>
                  <a:lnTo>
                    <a:pt x="4500960" y="0"/>
                  </a:lnTo>
                  <a:lnTo>
                    <a:pt x="4500960" y="562570"/>
                  </a:lnTo>
                  <a:lnTo>
                    <a:pt x="0" y="56257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4500960" cy="58162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312"/>
                </a:lnSpc>
              </a:pPr>
              <a:r>
                <a:rPr lang="en-US" sz="2625" b="true">
                  <a:solidFill>
                    <a:srgbClr val="D7D4CC"/>
                  </a:solidFill>
                  <a:latin typeface="Comfortaa Bold"/>
                  <a:ea typeface="Comfortaa Bold"/>
                  <a:cs typeface="Comfortaa Bold"/>
                  <a:sym typeface="Comfortaa Bold"/>
                </a:rPr>
                <a:t>Segments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855470" y="7930306"/>
            <a:ext cx="4577060" cy="971847"/>
            <a:chOff x="0" y="0"/>
            <a:chExt cx="6102747" cy="129579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102747" cy="1295797"/>
            </a:xfrm>
            <a:custGeom>
              <a:avLst/>
              <a:gdLst/>
              <a:ahLst/>
              <a:cxnLst/>
              <a:rect r="r" b="b" t="t" l="l"/>
              <a:pathLst>
                <a:path h="1295797" w="6102747">
                  <a:moveTo>
                    <a:pt x="0" y="0"/>
                  </a:moveTo>
                  <a:lnTo>
                    <a:pt x="6102747" y="0"/>
                  </a:lnTo>
                  <a:lnTo>
                    <a:pt x="6102747" y="1295797"/>
                  </a:lnTo>
                  <a:lnTo>
                    <a:pt x="0" y="12957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04775"/>
              <a:ext cx="6102747" cy="140057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812"/>
                </a:lnSpc>
              </a:pPr>
              <a:r>
                <a:rPr lang="en-US" sz="2375" b="true">
                  <a:solidFill>
                    <a:srgbClr val="D7D4CC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Examples: code, data, and stack represent logical units.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040046" y="7022455"/>
            <a:ext cx="5184576" cy="2183457"/>
            <a:chOff x="0" y="0"/>
            <a:chExt cx="6912768" cy="291127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912864" cy="2911348"/>
            </a:xfrm>
            <a:custGeom>
              <a:avLst/>
              <a:gdLst/>
              <a:ahLst/>
              <a:cxnLst/>
              <a:rect r="r" b="b" t="t" l="l"/>
              <a:pathLst>
                <a:path h="2911348" w="6912864">
                  <a:moveTo>
                    <a:pt x="0" y="607695"/>
                  </a:moveTo>
                  <a:cubicBezTo>
                    <a:pt x="0" y="272034"/>
                    <a:pt x="272034" y="0"/>
                    <a:pt x="607695" y="0"/>
                  </a:cubicBezTo>
                  <a:lnTo>
                    <a:pt x="6305169" y="0"/>
                  </a:lnTo>
                  <a:cubicBezTo>
                    <a:pt x="6640703" y="0"/>
                    <a:pt x="6912864" y="272034"/>
                    <a:pt x="6912864" y="607695"/>
                  </a:cubicBezTo>
                  <a:lnTo>
                    <a:pt x="6912864" y="2303653"/>
                  </a:lnTo>
                  <a:cubicBezTo>
                    <a:pt x="6912864" y="2639187"/>
                    <a:pt x="6640830" y="2911348"/>
                    <a:pt x="6305169" y="2911348"/>
                  </a:cubicBezTo>
                  <a:lnTo>
                    <a:pt x="607695" y="2911348"/>
                  </a:lnTo>
                  <a:cubicBezTo>
                    <a:pt x="272034" y="2911221"/>
                    <a:pt x="0" y="2639187"/>
                    <a:pt x="0" y="2303653"/>
                  </a:cubicBezTo>
                  <a:close/>
                </a:path>
              </a:pathLst>
            </a:custGeom>
            <a:solidFill>
              <a:srgbClr val="46464A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2343805" y="7326214"/>
            <a:ext cx="3375720" cy="421927"/>
            <a:chOff x="0" y="0"/>
            <a:chExt cx="4500960" cy="56257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500960" cy="562570"/>
            </a:xfrm>
            <a:custGeom>
              <a:avLst/>
              <a:gdLst/>
              <a:ahLst/>
              <a:cxnLst/>
              <a:rect r="r" b="b" t="t" l="l"/>
              <a:pathLst>
                <a:path h="562570" w="4500960">
                  <a:moveTo>
                    <a:pt x="0" y="0"/>
                  </a:moveTo>
                  <a:lnTo>
                    <a:pt x="4500960" y="0"/>
                  </a:lnTo>
                  <a:lnTo>
                    <a:pt x="4500960" y="562570"/>
                  </a:lnTo>
                  <a:lnTo>
                    <a:pt x="0" y="56257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4500960" cy="58162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312"/>
                </a:lnSpc>
              </a:pPr>
              <a:r>
                <a:rPr lang="en-US" sz="2625" b="true">
                  <a:solidFill>
                    <a:srgbClr val="D7D4CC"/>
                  </a:solidFill>
                  <a:latin typeface="Comfortaa Bold"/>
                  <a:ea typeface="Comfortaa Bold"/>
                  <a:cs typeface="Comfortaa Bold"/>
                  <a:sym typeface="Comfortaa Bold"/>
                </a:rPr>
                <a:t>Segment Table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343805" y="7930306"/>
            <a:ext cx="4577060" cy="971847"/>
            <a:chOff x="0" y="0"/>
            <a:chExt cx="6102747" cy="129579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102747" cy="1295797"/>
            </a:xfrm>
            <a:custGeom>
              <a:avLst/>
              <a:gdLst/>
              <a:ahLst/>
              <a:cxnLst/>
              <a:rect r="r" b="b" t="t" l="l"/>
              <a:pathLst>
                <a:path h="1295797" w="6102747">
                  <a:moveTo>
                    <a:pt x="0" y="0"/>
                  </a:moveTo>
                  <a:lnTo>
                    <a:pt x="6102747" y="0"/>
                  </a:lnTo>
                  <a:lnTo>
                    <a:pt x="6102747" y="1295797"/>
                  </a:lnTo>
                  <a:lnTo>
                    <a:pt x="0" y="12957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04775"/>
              <a:ext cx="6102747" cy="140057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812"/>
                </a:lnSpc>
              </a:pPr>
              <a:r>
                <a:rPr lang="en-US" sz="2375" b="true">
                  <a:solidFill>
                    <a:srgbClr val="D7D4CC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Maps segment names to physical addresses in memory.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B1B1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7272B"/>
            </a:solidFill>
          </p:spPr>
        </p:sp>
      </p:grpSp>
      <p:sp>
        <p:nvSpPr>
          <p:cNvPr name="Freeform 6" id="6" descr="preencoded.png"/>
          <p:cNvSpPr/>
          <p:nvPr/>
        </p:nvSpPr>
        <p:spPr>
          <a:xfrm flipH="false" flipV="false" rot="0">
            <a:off x="0" y="0"/>
            <a:ext cx="18288000" cy="3563839"/>
          </a:xfrm>
          <a:custGeom>
            <a:avLst/>
            <a:gdLst/>
            <a:ahLst/>
            <a:cxnLst/>
            <a:rect r="r" b="b" t="t" l="l"/>
            <a:pathLst>
              <a:path h="3563839" w="18288000">
                <a:moveTo>
                  <a:pt x="0" y="0"/>
                </a:moveTo>
                <a:lnTo>
                  <a:pt x="18288000" y="0"/>
                </a:lnTo>
                <a:lnTo>
                  <a:pt x="18288000" y="3563839"/>
                </a:lnTo>
                <a:lnTo>
                  <a:pt x="0" y="35638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" t="0" r="-2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997892" y="4350098"/>
            <a:ext cx="11550998" cy="791915"/>
            <a:chOff x="0" y="0"/>
            <a:chExt cx="15401330" cy="105588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401330" cy="1055887"/>
            </a:xfrm>
            <a:custGeom>
              <a:avLst/>
              <a:gdLst/>
              <a:ahLst/>
              <a:cxnLst/>
              <a:rect r="r" b="b" t="t" l="l"/>
              <a:pathLst>
                <a:path h="1055887" w="15401330">
                  <a:moveTo>
                    <a:pt x="0" y="0"/>
                  </a:moveTo>
                  <a:lnTo>
                    <a:pt x="15401330" y="0"/>
                  </a:lnTo>
                  <a:lnTo>
                    <a:pt x="15401330" y="1055887"/>
                  </a:lnTo>
                  <a:lnTo>
                    <a:pt x="0" y="105588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5401330" cy="108446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6187"/>
                </a:lnSpc>
              </a:pPr>
              <a:r>
                <a:rPr lang="en-US" sz="4937" b="true">
                  <a:solidFill>
                    <a:srgbClr val="FFE14D"/>
                  </a:solidFill>
                  <a:latin typeface="Comfortaa Bold"/>
                  <a:ea typeface="Comfortaa Bold"/>
                  <a:cs typeface="Comfortaa Bold"/>
                  <a:sym typeface="Comfortaa Bold"/>
                </a:rPr>
                <a:t>Segmentation: Address Translation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97892" y="6852494"/>
            <a:ext cx="3752255" cy="285006"/>
            <a:chOff x="0" y="0"/>
            <a:chExt cx="5003007" cy="3800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003038" cy="379984"/>
            </a:xfrm>
            <a:custGeom>
              <a:avLst/>
              <a:gdLst/>
              <a:ahLst/>
              <a:cxnLst/>
              <a:rect r="r" b="b" t="t" l="l"/>
              <a:pathLst>
                <a:path h="379984" w="5003038">
                  <a:moveTo>
                    <a:pt x="0" y="189992"/>
                  </a:moveTo>
                  <a:cubicBezTo>
                    <a:pt x="0" y="85090"/>
                    <a:pt x="85090" y="0"/>
                    <a:pt x="189992" y="0"/>
                  </a:cubicBezTo>
                  <a:lnTo>
                    <a:pt x="4813046" y="0"/>
                  </a:lnTo>
                  <a:cubicBezTo>
                    <a:pt x="4917948" y="0"/>
                    <a:pt x="5003038" y="85090"/>
                    <a:pt x="5003038" y="189992"/>
                  </a:cubicBezTo>
                  <a:cubicBezTo>
                    <a:pt x="5003038" y="294894"/>
                    <a:pt x="4917948" y="379984"/>
                    <a:pt x="4813046" y="379984"/>
                  </a:cubicBezTo>
                  <a:lnTo>
                    <a:pt x="189992" y="379984"/>
                  </a:lnTo>
                  <a:cubicBezTo>
                    <a:pt x="85090" y="379984"/>
                    <a:pt x="0" y="294894"/>
                    <a:pt x="0" y="189992"/>
                  </a:cubicBezTo>
                  <a:close/>
                </a:path>
              </a:pathLst>
            </a:custGeom>
            <a:solidFill>
              <a:srgbClr val="46464A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97892" y="7565082"/>
            <a:ext cx="3167806" cy="396031"/>
            <a:chOff x="0" y="0"/>
            <a:chExt cx="4223742" cy="52804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223742" cy="528042"/>
            </a:xfrm>
            <a:custGeom>
              <a:avLst/>
              <a:gdLst/>
              <a:ahLst/>
              <a:cxnLst/>
              <a:rect r="r" b="b" t="t" l="l"/>
              <a:pathLst>
                <a:path h="528042" w="4223742">
                  <a:moveTo>
                    <a:pt x="0" y="0"/>
                  </a:moveTo>
                  <a:lnTo>
                    <a:pt x="4223742" y="0"/>
                  </a:lnTo>
                  <a:lnTo>
                    <a:pt x="4223742" y="528042"/>
                  </a:lnTo>
                  <a:lnTo>
                    <a:pt x="0" y="5280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4223742" cy="54709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062"/>
                </a:lnSpc>
              </a:pPr>
              <a:r>
                <a:rPr lang="en-US" sz="2437" b="true">
                  <a:solidFill>
                    <a:srgbClr val="D7D4CC"/>
                  </a:solidFill>
                  <a:latin typeface="Comfortaa Bold"/>
                  <a:ea typeface="Comfortaa Bold"/>
                  <a:cs typeface="Comfortaa Bold"/>
                  <a:sym typeface="Comfortaa Bold"/>
                </a:rPr>
                <a:t>Logical Address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97892" y="8132117"/>
            <a:ext cx="3752255" cy="1368475"/>
            <a:chOff x="0" y="0"/>
            <a:chExt cx="5003007" cy="182463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003007" cy="1824633"/>
            </a:xfrm>
            <a:custGeom>
              <a:avLst/>
              <a:gdLst/>
              <a:ahLst/>
              <a:cxnLst/>
              <a:rect r="r" b="b" t="t" l="l"/>
              <a:pathLst>
                <a:path h="1824633" w="5003007">
                  <a:moveTo>
                    <a:pt x="0" y="0"/>
                  </a:moveTo>
                  <a:lnTo>
                    <a:pt x="5003007" y="0"/>
                  </a:lnTo>
                  <a:lnTo>
                    <a:pt x="5003007" y="1824633"/>
                  </a:lnTo>
                  <a:lnTo>
                    <a:pt x="0" y="18246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0"/>
              <a:ext cx="5003007" cy="191988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 b="true">
                  <a:solidFill>
                    <a:srgbClr val="D7D4CC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Consists of segment number and offset within that segment.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177730" y="6424910"/>
            <a:ext cx="3752404" cy="285006"/>
            <a:chOff x="0" y="0"/>
            <a:chExt cx="5003205" cy="38000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003165" cy="379984"/>
            </a:xfrm>
            <a:custGeom>
              <a:avLst/>
              <a:gdLst/>
              <a:ahLst/>
              <a:cxnLst/>
              <a:rect r="r" b="b" t="t" l="l"/>
              <a:pathLst>
                <a:path h="379984" w="5003165">
                  <a:moveTo>
                    <a:pt x="0" y="189992"/>
                  </a:moveTo>
                  <a:cubicBezTo>
                    <a:pt x="0" y="85090"/>
                    <a:pt x="85090" y="0"/>
                    <a:pt x="189992" y="0"/>
                  </a:cubicBezTo>
                  <a:lnTo>
                    <a:pt x="4813173" y="0"/>
                  </a:lnTo>
                  <a:cubicBezTo>
                    <a:pt x="4918075" y="0"/>
                    <a:pt x="5003165" y="85090"/>
                    <a:pt x="5003165" y="189992"/>
                  </a:cubicBezTo>
                  <a:cubicBezTo>
                    <a:pt x="5003165" y="294894"/>
                    <a:pt x="4918075" y="379984"/>
                    <a:pt x="4813173" y="379984"/>
                  </a:cubicBezTo>
                  <a:lnTo>
                    <a:pt x="189992" y="379984"/>
                  </a:lnTo>
                  <a:cubicBezTo>
                    <a:pt x="85090" y="379984"/>
                    <a:pt x="0" y="294894"/>
                    <a:pt x="0" y="189992"/>
                  </a:cubicBezTo>
                  <a:close/>
                </a:path>
              </a:pathLst>
            </a:custGeom>
            <a:solidFill>
              <a:srgbClr val="46464A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5177730" y="7137499"/>
            <a:ext cx="3414118" cy="396031"/>
            <a:chOff x="0" y="0"/>
            <a:chExt cx="4552157" cy="52804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552157" cy="528042"/>
            </a:xfrm>
            <a:custGeom>
              <a:avLst/>
              <a:gdLst/>
              <a:ahLst/>
              <a:cxnLst/>
              <a:rect r="r" b="b" t="t" l="l"/>
              <a:pathLst>
                <a:path h="528042" w="4552157">
                  <a:moveTo>
                    <a:pt x="0" y="0"/>
                  </a:moveTo>
                  <a:lnTo>
                    <a:pt x="4552157" y="0"/>
                  </a:lnTo>
                  <a:lnTo>
                    <a:pt x="4552157" y="528042"/>
                  </a:lnTo>
                  <a:lnTo>
                    <a:pt x="0" y="5280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4552157" cy="54709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062"/>
                </a:lnSpc>
              </a:pPr>
              <a:r>
                <a:rPr lang="en-US" sz="2437" b="true">
                  <a:solidFill>
                    <a:srgbClr val="D7D4CC"/>
                  </a:solidFill>
                  <a:latin typeface="Comfortaa Bold"/>
                  <a:ea typeface="Comfortaa Bold"/>
                  <a:cs typeface="Comfortaa Bold"/>
                  <a:sym typeface="Comfortaa Bold"/>
                </a:rPr>
                <a:t>Segment Table Entry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177730" y="7704535"/>
            <a:ext cx="3752404" cy="1368475"/>
            <a:chOff x="0" y="0"/>
            <a:chExt cx="5003205" cy="182463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003205" cy="1824633"/>
            </a:xfrm>
            <a:custGeom>
              <a:avLst/>
              <a:gdLst/>
              <a:ahLst/>
              <a:cxnLst/>
              <a:rect r="r" b="b" t="t" l="l"/>
              <a:pathLst>
                <a:path h="1824633" w="5003205">
                  <a:moveTo>
                    <a:pt x="0" y="0"/>
                  </a:moveTo>
                  <a:lnTo>
                    <a:pt x="5003205" y="0"/>
                  </a:lnTo>
                  <a:lnTo>
                    <a:pt x="5003205" y="1824633"/>
                  </a:lnTo>
                  <a:lnTo>
                    <a:pt x="0" y="18246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0"/>
              <a:ext cx="5003205" cy="191988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 b="true">
                  <a:solidFill>
                    <a:srgbClr val="D7D4CC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Stores segment base address and segment size limit.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357718" y="5997179"/>
            <a:ext cx="3752404" cy="285006"/>
            <a:chOff x="0" y="0"/>
            <a:chExt cx="5003205" cy="38000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003165" cy="379984"/>
            </a:xfrm>
            <a:custGeom>
              <a:avLst/>
              <a:gdLst/>
              <a:ahLst/>
              <a:cxnLst/>
              <a:rect r="r" b="b" t="t" l="l"/>
              <a:pathLst>
                <a:path h="379984" w="5003165">
                  <a:moveTo>
                    <a:pt x="0" y="189992"/>
                  </a:moveTo>
                  <a:cubicBezTo>
                    <a:pt x="0" y="85090"/>
                    <a:pt x="85090" y="0"/>
                    <a:pt x="189992" y="0"/>
                  </a:cubicBezTo>
                  <a:lnTo>
                    <a:pt x="4813173" y="0"/>
                  </a:lnTo>
                  <a:cubicBezTo>
                    <a:pt x="4918075" y="0"/>
                    <a:pt x="5003165" y="85090"/>
                    <a:pt x="5003165" y="189992"/>
                  </a:cubicBezTo>
                  <a:cubicBezTo>
                    <a:pt x="5003165" y="294894"/>
                    <a:pt x="4918075" y="379984"/>
                    <a:pt x="4813173" y="379984"/>
                  </a:cubicBezTo>
                  <a:lnTo>
                    <a:pt x="189992" y="379984"/>
                  </a:lnTo>
                  <a:cubicBezTo>
                    <a:pt x="85090" y="379984"/>
                    <a:pt x="0" y="294894"/>
                    <a:pt x="0" y="189992"/>
                  </a:cubicBezTo>
                  <a:close/>
                </a:path>
              </a:pathLst>
            </a:custGeom>
            <a:solidFill>
              <a:srgbClr val="46464A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357718" y="6709767"/>
            <a:ext cx="3752404" cy="792064"/>
            <a:chOff x="0" y="0"/>
            <a:chExt cx="5003205" cy="105608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003205" cy="1056085"/>
            </a:xfrm>
            <a:custGeom>
              <a:avLst/>
              <a:gdLst/>
              <a:ahLst/>
              <a:cxnLst/>
              <a:rect r="r" b="b" t="t" l="l"/>
              <a:pathLst>
                <a:path h="1056085" w="5003205">
                  <a:moveTo>
                    <a:pt x="0" y="0"/>
                  </a:moveTo>
                  <a:lnTo>
                    <a:pt x="5003205" y="0"/>
                  </a:lnTo>
                  <a:lnTo>
                    <a:pt x="5003205" y="1056085"/>
                  </a:lnTo>
                  <a:lnTo>
                    <a:pt x="0" y="105608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5003205" cy="107513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062"/>
                </a:lnSpc>
              </a:pPr>
              <a:r>
                <a:rPr lang="en-US" sz="2437" b="true">
                  <a:solidFill>
                    <a:srgbClr val="D7D4CC"/>
                  </a:solidFill>
                  <a:latin typeface="Comfortaa Bold"/>
                  <a:ea typeface="Comfortaa Bold"/>
                  <a:cs typeface="Comfortaa Bold"/>
                  <a:sym typeface="Comfortaa Bold"/>
                </a:rPr>
                <a:t>Physical Address Calculation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357718" y="7672834"/>
            <a:ext cx="3752404" cy="1368475"/>
            <a:chOff x="0" y="0"/>
            <a:chExt cx="5003205" cy="182463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003205" cy="1824633"/>
            </a:xfrm>
            <a:custGeom>
              <a:avLst/>
              <a:gdLst/>
              <a:ahLst/>
              <a:cxnLst/>
              <a:rect r="r" b="b" t="t" l="l"/>
              <a:pathLst>
                <a:path h="1824633" w="5003205">
                  <a:moveTo>
                    <a:pt x="0" y="0"/>
                  </a:moveTo>
                  <a:lnTo>
                    <a:pt x="5003205" y="0"/>
                  </a:lnTo>
                  <a:lnTo>
                    <a:pt x="5003205" y="1824633"/>
                  </a:lnTo>
                  <a:lnTo>
                    <a:pt x="0" y="18246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0"/>
              <a:ext cx="5003205" cy="191988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 b="true">
                  <a:solidFill>
                    <a:srgbClr val="D7D4CC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Physical address = base address + offset if offset is valid.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3537704" y="5569595"/>
            <a:ext cx="3752404" cy="285006"/>
            <a:chOff x="0" y="0"/>
            <a:chExt cx="5003205" cy="38000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003165" cy="379984"/>
            </a:xfrm>
            <a:custGeom>
              <a:avLst/>
              <a:gdLst/>
              <a:ahLst/>
              <a:cxnLst/>
              <a:rect r="r" b="b" t="t" l="l"/>
              <a:pathLst>
                <a:path h="379984" w="5003165">
                  <a:moveTo>
                    <a:pt x="0" y="189992"/>
                  </a:moveTo>
                  <a:cubicBezTo>
                    <a:pt x="0" y="85090"/>
                    <a:pt x="85090" y="0"/>
                    <a:pt x="189992" y="0"/>
                  </a:cubicBezTo>
                  <a:lnTo>
                    <a:pt x="4813173" y="0"/>
                  </a:lnTo>
                  <a:cubicBezTo>
                    <a:pt x="4918075" y="0"/>
                    <a:pt x="5003165" y="85090"/>
                    <a:pt x="5003165" y="189992"/>
                  </a:cubicBezTo>
                  <a:cubicBezTo>
                    <a:pt x="5003165" y="294894"/>
                    <a:pt x="4918075" y="379984"/>
                    <a:pt x="4813173" y="379984"/>
                  </a:cubicBezTo>
                  <a:lnTo>
                    <a:pt x="189992" y="379984"/>
                  </a:lnTo>
                  <a:cubicBezTo>
                    <a:pt x="85090" y="379984"/>
                    <a:pt x="0" y="294894"/>
                    <a:pt x="0" y="189992"/>
                  </a:cubicBezTo>
                  <a:close/>
                </a:path>
              </a:pathLst>
            </a:custGeom>
            <a:solidFill>
              <a:srgbClr val="46464A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3537704" y="6282184"/>
            <a:ext cx="3167806" cy="396031"/>
            <a:chOff x="0" y="0"/>
            <a:chExt cx="4223742" cy="52804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223742" cy="528042"/>
            </a:xfrm>
            <a:custGeom>
              <a:avLst/>
              <a:gdLst/>
              <a:ahLst/>
              <a:cxnLst/>
              <a:rect r="r" b="b" t="t" l="l"/>
              <a:pathLst>
                <a:path h="528042" w="4223742">
                  <a:moveTo>
                    <a:pt x="0" y="0"/>
                  </a:moveTo>
                  <a:lnTo>
                    <a:pt x="4223742" y="0"/>
                  </a:lnTo>
                  <a:lnTo>
                    <a:pt x="4223742" y="528042"/>
                  </a:lnTo>
                  <a:lnTo>
                    <a:pt x="0" y="5280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4223742" cy="54709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062"/>
                </a:lnSpc>
              </a:pPr>
              <a:r>
                <a:rPr lang="en-US" sz="2437" b="true">
                  <a:solidFill>
                    <a:srgbClr val="D7D4CC"/>
                  </a:solidFill>
                  <a:latin typeface="Comfortaa Bold"/>
                  <a:ea typeface="Comfortaa Bold"/>
                  <a:cs typeface="Comfortaa Bold"/>
                  <a:sym typeface="Comfortaa Bold"/>
                </a:rPr>
                <a:t>Example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3537704" y="6849219"/>
            <a:ext cx="3752404" cy="1368475"/>
            <a:chOff x="0" y="0"/>
            <a:chExt cx="5003205" cy="1824633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003205" cy="1824633"/>
            </a:xfrm>
            <a:custGeom>
              <a:avLst/>
              <a:gdLst/>
              <a:ahLst/>
              <a:cxnLst/>
              <a:rect r="r" b="b" t="t" l="l"/>
              <a:pathLst>
                <a:path h="1824633" w="5003205">
                  <a:moveTo>
                    <a:pt x="0" y="0"/>
                  </a:moveTo>
                  <a:lnTo>
                    <a:pt x="5003205" y="0"/>
                  </a:lnTo>
                  <a:lnTo>
                    <a:pt x="5003205" y="1824633"/>
                  </a:lnTo>
                  <a:lnTo>
                    <a:pt x="0" y="18246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0"/>
              <a:ext cx="5003205" cy="191988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 b="true">
                  <a:solidFill>
                    <a:srgbClr val="D7D4CC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Segment 2, Base 2000, Limit 500; Logical (2,300) → Physical 2300.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B1B1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7272B"/>
            </a:solidFill>
          </p:spPr>
        </p:sp>
      </p:grpSp>
      <p:sp>
        <p:nvSpPr>
          <p:cNvPr name="Freeform 6" id="6" descr="preencoded.png"/>
          <p:cNvSpPr/>
          <p:nvPr/>
        </p:nvSpPr>
        <p:spPr>
          <a:xfrm flipH="false" flipV="false" rot="0">
            <a:off x="11430000" y="39290"/>
            <a:ext cx="6858000" cy="10287000"/>
          </a:xfrm>
          <a:custGeom>
            <a:avLst/>
            <a:gdLst/>
            <a:ahLst/>
            <a:cxnLst/>
            <a:rect r="r" b="b" t="t" l="l"/>
            <a:pathLst>
              <a:path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80046" y="2285702"/>
            <a:ext cx="9269909" cy="1714500"/>
            <a:chOff x="0" y="0"/>
            <a:chExt cx="12359878" cy="2286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359878" cy="2286000"/>
            </a:xfrm>
            <a:custGeom>
              <a:avLst/>
              <a:gdLst/>
              <a:ahLst/>
              <a:cxnLst/>
              <a:rect r="r" b="b" t="t" l="l"/>
              <a:pathLst>
                <a:path h="2286000" w="12359878">
                  <a:moveTo>
                    <a:pt x="0" y="0"/>
                  </a:moveTo>
                  <a:lnTo>
                    <a:pt x="12359878" y="0"/>
                  </a:lnTo>
                  <a:lnTo>
                    <a:pt x="12359878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2359878" cy="232410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6749"/>
                </a:lnSpc>
              </a:pPr>
              <a:r>
                <a:rPr lang="en-US" sz="5374" b="true">
                  <a:solidFill>
                    <a:srgbClr val="FFE14D"/>
                  </a:solidFill>
                  <a:latin typeface="Comfortaa Bold"/>
                  <a:ea typeface="Comfortaa Bold"/>
                  <a:cs typeface="Comfortaa Bold"/>
                  <a:sym typeface="Comfortaa Bold"/>
                </a:rPr>
                <a:t>Paging: Dividing Memory into Fixed-Size Pages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80046" y="4463058"/>
            <a:ext cx="694284" cy="694284"/>
            <a:chOff x="0" y="0"/>
            <a:chExt cx="925712" cy="92571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25703" cy="925703"/>
            </a:xfrm>
            <a:custGeom>
              <a:avLst/>
              <a:gdLst/>
              <a:ahLst/>
              <a:cxnLst/>
              <a:rect r="r" b="b" t="t" l="l"/>
              <a:pathLst>
                <a:path h="925703" w="925703">
                  <a:moveTo>
                    <a:pt x="0" y="462915"/>
                  </a:moveTo>
                  <a:cubicBezTo>
                    <a:pt x="0" y="207264"/>
                    <a:pt x="207264" y="0"/>
                    <a:pt x="462915" y="0"/>
                  </a:cubicBezTo>
                  <a:cubicBezTo>
                    <a:pt x="718566" y="0"/>
                    <a:pt x="925703" y="207264"/>
                    <a:pt x="925703" y="462915"/>
                  </a:cubicBezTo>
                  <a:cubicBezTo>
                    <a:pt x="925703" y="718566"/>
                    <a:pt x="718439" y="925703"/>
                    <a:pt x="462915" y="925703"/>
                  </a:cubicBezTo>
                  <a:cubicBezTo>
                    <a:pt x="207391" y="925703"/>
                    <a:pt x="0" y="718439"/>
                    <a:pt x="0" y="462915"/>
                  </a:cubicBezTo>
                  <a:close/>
                </a:path>
              </a:pathLst>
            </a:custGeom>
            <a:solidFill>
              <a:srgbClr val="46464A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82850" y="4569024"/>
            <a:ext cx="3429000" cy="428625"/>
            <a:chOff x="0" y="0"/>
            <a:chExt cx="4572000" cy="5715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572000" cy="571500"/>
            </a:xfrm>
            <a:custGeom>
              <a:avLst/>
              <a:gdLst/>
              <a:ahLst/>
              <a:cxnLst/>
              <a:rect r="r" b="b" t="t" l="l"/>
              <a:pathLst>
                <a:path h="5715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571500"/>
                  </a:lnTo>
                  <a:lnTo>
                    <a:pt x="0" y="5715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4572000" cy="59055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374"/>
                </a:lnSpc>
              </a:pPr>
              <a:r>
                <a:rPr lang="en-US" sz="2687" b="true">
                  <a:solidFill>
                    <a:srgbClr val="D7D4CC"/>
                  </a:solidFill>
                  <a:latin typeface="Comfortaa Bold"/>
                  <a:ea typeface="Comfortaa Bold"/>
                  <a:cs typeface="Comfortaa Bold"/>
                  <a:sym typeface="Comfortaa Bold"/>
                </a:rPr>
                <a:t>Definition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082850" y="5182790"/>
            <a:ext cx="3439269" cy="987624"/>
            <a:chOff x="0" y="0"/>
            <a:chExt cx="4585692" cy="131683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585692" cy="1316832"/>
            </a:xfrm>
            <a:custGeom>
              <a:avLst/>
              <a:gdLst/>
              <a:ahLst/>
              <a:cxnLst/>
              <a:rect r="r" b="b" t="t" l="l"/>
              <a:pathLst>
                <a:path h="1316832" w="4585692">
                  <a:moveTo>
                    <a:pt x="0" y="0"/>
                  </a:moveTo>
                  <a:lnTo>
                    <a:pt x="4585692" y="0"/>
                  </a:lnTo>
                  <a:lnTo>
                    <a:pt x="4585692" y="1316832"/>
                  </a:lnTo>
                  <a:lnTo>
                    <a:pt x="0" y="13168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04775"/>
              <a:ext cx="4585692" cy="142160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875"/>
                </a:lnSpc>
              </a:pPr>
              <a:r>
                <a:rPr lang="en-US" sz="2375" b="true">
                  <a:solidFill>
                    <a:srgbClr val="D7D4CC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Memory split into fixed-size pages and frames.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907881" y="4463058"/>
            <a:ext cx="694284" cy="694284"/>
            <a:chOff x="0" y="0"/>
            <a:chExt cx="925712" cy="92571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25703" cy="925703"/>
            </a:xfrm>
            <a:custGeom>
              <a:avLst/>
              <a:gdLst/>
              <a:ahLst/>
              <a:cxnLst/>
              <a:rect r="r" b="b" t="t" l="l"/>
              <a:pathLst>
                <a:path h="925703" w="925703">
                  <a:moveTo>
                    <a:pt x="0" y="462915"/>
                  </a:moveTo>
                  <a:cubicBezTo>
                    <a:pt x="0" y="207264"/>
                    <a:pt x="207264" y="0"/>
                    <a:pt x="462915" y="0"/>
                  </a:cubicBezTo>
                  <a:cubicBezTo>
                    <a:pt x="718566" y="0"/>
                    <a:pt x="925703" y="207264"/>
                    <a:pt x="925703" y="462915"/>
                  </a:cubicBezTo>
                  <a:cubicBezTo>
                    <a:pt x="925703" y="718566"/>
                    <a:pt x="718439" y="925703"/>
                    <a:pt x="462915" y="925703"/>
                  </a:cubicBezTo>
                  <a:cubicBezTo>
                    <a:pt x="207391" y="925703"/>
                    <a:pt x="0" y="718439"/>
                    <a:pt x="0" y="462915"/>
                  </a:cubicBezTo>
                  <a:close/>
                </a:path>
              </a:pathLst>
            </a:custGeom>
            <a:solidFill>
              <a:srgbClr val="46464A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910685" y="4569024"/>
            <a:ext cx="3429000" cy="428625"/>
            <a:chOff x="0" y="0"/>
            <a:chExt cx="4572000" cy="5715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572000" cy="571500"/>
            </a:xfrm>
            <a:custGeom>
              <a:avLst/>
              <a:gdLst/>
              <a:ahLst/>
              <a:cxnLst/>
              <a:rect r="r" b="b" t="t" l="l"/>
              <a:pathLst>
                <a:path h="5715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571500"/>
                  </a:lnTo>
                  <a:lnTo>
                    <a:pt x="0" y="5715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4572000" cy="59055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374"/>
                </a:lnSpc>
              </a:pPr>
              <a:r>
                <a:rPr lang="en-US" sz="2687" b="true">
                  <a:solidFill>
                    <a:srgbClr val="D7D4CC"/>
                  </a:solidFill>
                  <a:latin typeface="Comfortaa Bold"/>
                  <a:ea typeface="Comfortaa Bold"/>
                  <a:cs typeface="Comfortaa Bold"/>
                  <a:sym typeface="Comfortaa Bold"/>
                </a:rPr>
                <a:t>Page Table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910685" y="5182790"/>
            <a:ext cx="3439269" cy="987624"/>
            <a:chOff x="0" y="0"/>
            <a:chExt cx="4585692" cy="131683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585692" cy="1316832"/>
            </a:xfrm>
            <a:custGeom>
              <a:avLst/>
              <a:gdLst/>
              <a:ahLst/>
              <a:cxnLst/>
              <a:rect r="r" b="b" t="t" l="l"/>
              <a:pathLst>
                <a:path h="1316832" w="4585692">
                  <a:moveTo>
                    <a:pt x="0" y="0"/>
                  </a:moveTo>
                  <a:lnTo>
                    <a:pt x="4585692" y="0"/>
                  </a:lnTo>
                  <a:lnTo>
                    <a:pt x="4585692" y="1316832"/>
                  </a:lnTo>
                  <a:lnTo>
                    <a:pt x="0" y="13168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04775"/>
              <a:ext cx="4585692" cy="142160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875"/>
                </a:lnSpc>
              </a:pPr>
              <a:r>
                <a:rPr lang="en-US" sz="2375" b="true">
                  <a:solidFill>
                    <a:srgbClr val="D7D4CC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Maps logical pages to physical frames.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80046" y="6787604"/>
            <a:ext cx="694284" cy="694284"/>
            <a:chOff x="0" y="0"/>
            <a:chExt cx="925712" cy="92571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25703" cy="925703"/>
            </a:xfrm>
            <a:custGeom>
              <a:avLst/>
              <a:gdLst/>
              <a:ahLst/>
              <a:cxnLst/>
              <a:rect r="r" b="b" t="t" l="l"/>
              <a:pathLst>
                <a:path h="925703" w="925703">
                  <a:moveTo>
                    <a:pt x="0" y="462915"/>
                  </a:moveTo>
                  <a:cubicBezTo>
                    <a:pt x="0" y="207264"/>
                    <a:pt x="207264" y="0"/>
                    <a:pt x="462915" y="0"/>
                  </a:cubicBezTo>
                  <a:cubicBezTo>
                    <a:pt x="718566" y="0"/>
                    <a:pt x="925703" y="207264"/>
                    <a:pt x="925703" y="462915"/>
                  </a:cubicBezTo>
                  <a:cubicBezTo>
                    <a:pt x="925703" y="718566"/>
                    <a:pt x="718439" y="925703"/>
                    <a:pt x="462915" y="925703"/>
                  </a:cubicBezTo>
                  <a:cubicBezTo>
                    <a:pt x="207391" y="925703"/>
                    <a:pt x="0" y="718439"/>
                    <a:pt x="0" y="462915"/>
                  </a:cubicBezTo>
                  <a:close/>
                </a:path>
              </a:pathLst>
            </a:custGeom>
            <a:solidFill>
              <a:srgbClr val="46464A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2082850" y="6893570"/>
            <a:ext cx="4197846" cy="428625"/>
            <a:chOff x="0" y="0"/>
            <a:chExt cx="5597128" cy="5715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597129" cy="571500"/>
            </a:xfrm>
            <a:custGeom>
              <a:avLst/>
              <a:gdLst/>
              <a:ahLst/>
              <a:cxnLst/>
              <a:rect r="r" b="b" t="t" l="l"/>
              <a:pathLst>
                <a:path h="571500" w="5597129">
                  <a:moveTo>
                    <a:pt x="0" y="0"/>
                  </a:moveTo>
                  <a:lnTo>
                    <a:pt x="5597129" y="0"/>
                  </a:lnTo>
                  <a:lnTo>
                    <a:pt x="5597129" y="571500"/>
                  </a:lnTo>
                  <a:lnTo>
                    <a:pt x="0" y="5715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5597128" cy="59055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374"/>
                </a:lnSpc>
              </a:pPr>
              <a:r>
                <a:rPr lang="en-US" sz="2687" b="true">
                  <a:solidFill>
                    <a:srgbClr val="D7D4CC"/>
                  </a:solidFill>
                  <a:latin typeface="Comfortaa Bold"/>
                  <a:ea typeface="Comfortaa Bold"/>
                  <a:cs typeface="Comfortaa Bold"/>
                  <a:sym typeface="Comfortaa Bold"/>
                </a:rPr>
                <a:t>Internal Fragmentation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2082850" y="7507338"/>
            <a:ext cx="8267105" cy="493811"/>
            <a:chOff x="0" y="0"/>
            <a:chExt cx="11022807" cy="65841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022807" cy="658415"/>
            </a:xfrm>
            <a:custGeom>
              <a:avLst/>
              <a:gdLst/>
              <a:ahLst/>
              <a:cxnLst/>
              <a:rect r="r" b="b" t="t" l="l"/>
              <a:pathLst>
                <a:path h="658415" w="11022807">
                  <a:moveTo>
                    <a:pt x="0" y="0"/>
                  </a:moveTo>
                  <a:lnTo>
                    <a:pt x="11022807" y="0"/>
                  </a:lnTo>
                  <a:lnTo>
                    <a:pt x="11022807" y="658415"/>
                  </a:lnTo>
                  <a:lnTo>
                    <a:pt x="0" y="6584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04775"/>
              <a:ext cx="11022807" cy="76319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875"/>
                </a:lnSpc>
              </a:pPr>
              <a:r>
                <a:rPr lang="en-US" sz="2375" b="true">
                  <a:solidFill>
                    <a:srgbClr val="D7D4CC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Unused space inside pages due to fixed size.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B1B1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7272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80046" y="2695278"/>
            <a:ext cx="9949011" cy="857250"/>
            <a:chOff x="0" y="0"/>
            <a:chExt cx="13265348" cy="1143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265348" cy="1143000"/>
            </a:xfrm>
            <a:custGeom>
              <a:avLst/>
              <a:gdLst/>
              <a:ahLst/>
              <a:cxnLst/>
              <a:rect r="r" b="b" t="t" l="l"/>
              <a:pathLst>
                <a:path h="1143000" w="13265348">
                  <a:moveTo>
                    <a:pt x="0" y="0"/>
                  </a:moveTo>
                  <a:lnTo>
                    <a:pt x="13265348" y="0"/>
                  </a:lnTo>
                  <a:lnTo>
                    <a:pt x="13265348" y="1143000"/>
                  </a:lnTo>
                  <a:lnTo>
                    <a:pt x="0" y="1143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3265348" cy="118110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6749"/>
                </a:lnSpc>
              </a:pPr>
              <a:r>
                <a:rPr lang="en-US" sz="5374" b="true">
                  <a:solidFill>
                    <a:srgbClr val="FFE14D"/>
                  </a:solidFill>
                  <a:latin typeface="Comfortaa Bold"/>
                  <a:ea typeface="Comfortaa Bold"/>
                  <a:cs typeface="Comfortaa Bold"/>
                  <a:sym typeface="Comfortaa Bold"/>
                </a:rPr>
                <a:t>Paging: Address Translation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80046" y="4323904"/>
            <a:ext cx="3429000" cy="428625"/>
            <a:chOff x="0" y="0"/>
            <a:chExt cx="4572000" cy="571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572000" cy="571500"/>
            </a:xfrm>
            <a:custGeom>
              <a:avLst/>
              <a:gdLst/>
              <a:ahLst/>
              <a:cxnLst/>
              <a:rect r="r" b="b" t="t" l="l"/>
              <a:pathLst>
                <a:path h="5715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571500"/>
                  </a:lnTo>
                  <a:lnTo>
                    <a:pt x="0" y="5715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4572000" cy="59055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374"/>
                </a:lnSpc>
              </a:pPr>
              <a:r>
                <a:rPr lang="en-US" sz="2687" b="true">
                  <a:solidFill>
                    <a:srgbClr val="FFE14D"/>
                  </a:solidFill>
                  <a:latin typeface="Comfortaa Bold"/>
                  <a:ea typeface="Comfortaa Bold"/>
                  <a:cs typeface="Comfortaa Bold"/>
                  <a:sym typeface="Comfortaa Bold"/>
                </a:rPr>
                <a:t>Logical Address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80046" y="5061049"/>
            <a:ext cx="4873526" cy="987624"/>
            <a:chOff x="0" y="0"/>
            <a:chExt cx="6498035" cy="131683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498035" cy="1316832"/>
            </a:xfrm>
            <a:custGeom>
              <a:avLst/>
              <a:gdLst/>
              <a:ahLst/>
              <a:cxnLst/>
              <a:rect r="r" b="b" t="t" l="l"/>
              <a:pathLst>
                <a:path h="1316832" w="6498035">
                  <a:moveTo>
                    <a:pt x="0" y="0"/>
                  </a:moveTo>
                  <a:lnTo>
                    <a:pt x="6498035" y="0"/>
                  </a:lnTo>
                  <a:lnTo>
                    <a:pt x="6498035" y="1316832"/>
                  </a:lnTo>
                  <a:lnTo>
                    <a:pt x="0" y="13168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04775"/>
              <a:ext cx="6498035" cy="142160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875"/>
                </a:lnSpc>
              </a:pPr>
              <a:r>
                <a:rPr lang="en-US" sz="2375" b="true">
                  <a:solidFill>
                    <a:srgbClr val="D7D4CC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Combination of page number and offset.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80046" y="6326386"/>
            <a:ext cx="4873526" cy="493811"/>
            <a:chOff x="0" y="0"/>
            <a:chExt cx="6498035" cy="65841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498035" cy="658415"/>
            </a:xfrm>
            <a:custGeom>
              <a:avLst/>
              <a:gdLst/>
              <a:ahLst/>
              <a:cxnLst/>
              <a:rect r="r" b="b" t="t" l="l"/>
              <a:pathLst>
                <a:path h="658415" w="6498035">
                  <a:moveTo>
                    <a:pt x="0" y="0"/>
                  </a:moveTo>
                  <a:lnTo>
                    <a:pt x="6498035" y="0"/>
                  </a:lnTo>
                  <a:lnTo>
                    <a:pt x="6498035" y="658415"/>
                  </a:lnTo>
                  <a:lnTo>
                    <a:pt x="0" y="6584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04775"/>
              <a:ext cx="6498035" cy="76319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875"/>
                </a:lnSpc>
              </a:pPr>
              <a:r>
                <a:rPr lang="en-US" sz="2375" b="true">
                  <a:solidFill>
                    <a:srgbClr val="D7D4CC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Example size: 4KB pages.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715869" y="4323904"/>
            <a:ext cx="3429000" cy="428625"/>
            <a:chOff x="0" y="0"/>
            <a:chExt cx="4572000" cy="5715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572000" cy="571500"/>
            </a:xfrm>
            <a:custGeom>
              <a:avLst/>
              <a:gdLst/>
              <a:ahLst/>
              <a:cxnLst/>
              <a:rect r="r" b="b" t="t" l="l"/>
              <a:pathLst>
                <a:path h="5715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571500"/>
                  </a:lnTo>
                  <a:lnTo>
                    <a:pt x="0" y="5715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4572000" cy="59055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374"/>
                </a:lnSpc>
              </a:pPr>
              <a:r>
                <a:rPr lang="en-US" sz="2687" b="true">
                  <a:solidFill>
                    <a:srgbClr val="FFE14D"/>
                  </a:solidFill>
                  <a:latin typeface="Comfortaa Bold"/>
                  <a:ea typeface="Comfortaa Bold"/>
                  <a:cs typeface="Comfortaa Bold"/>
                  <a:sym typeface="Comfortaa Bold"/>
                </a:rPr>
                <a:t>Page Table Entry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715869" y="5061049"/>
            <a:ext cx="4873526" cy="987624"/>
            <a:chOff x="0" y="0"/>
            <a:chExt cx="6498035" cy="131683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498035" cy="1316832"/>
            </a:xfrm>
            <a:custGeom>
              <a:avLst/>
              <a:gdLst/>
              <a:ahLst/>
              <a:cxnLst/>
              <a:rect r="r" b="b" t="t" l="l"/>
              <a:pathLst>
                <a:path h="1316832" w="6498035">
                  <a:moveTo>
                    <a:pt x="0" y="0"/>
                  </a:moveTo>
                  <a:lnTo>
                    <a:pt x="6498035" y="0"/>
                  </a:lnTo>
                  <a:lnTo>
                    <a:pt x="6498035" y="1316832"/>
                  </a:lnTo>
                  <a:lnTo>
                    <a:pt x="0" y="13168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04775"/>
              <a:ext cx="6498035" cy="142160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875"/>
                </a:lnSpc>
              </a:pPr>
              <a:r>
                <a:rPr lang="en-US" sz="2375" b="true">
                  <a:solidFill>
                    <a:srgbClr val="D7D4CC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Contains frame number and validity bit.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715869" y="6326386"/>
            <a:ext cx="4873526" cy="987624"/>
            <a:chOff x="0" y="0"/>
            <a:chExt cx="6498035" cy="131683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498035" cy="1316832"/>
            </a:xfrm>
            <a:custGeom>
              <a:avLst/>
              <a:gdLst/>
              <a:ahLst/>
              <a:cxnLst/>
              <a:rect r="r" b="b" t="t" l="l"/>
              <a:pathLst>
                <a:path h="1316832" w="6498035">
                  <a:moveTo>
                    <a:pt x="0" y="0"/>
                  </a:moveTo>
                  <a:lnTo>
                    <a:pt x="6498035" y="0"/>
                  </a:lnTo>
                  <a:lnTo>
                    <a:pt x="6498035" y="1316832"/>
                  </a:lnTo>
                  <a:lnTo>
                    <a:pt x="0" y="13168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04775"/>
              <a:ext cx="6498035" cy="142160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875"/>
                </a:lnSpc>
              </a:pPr>
              <a:r>
                <a:rPr lang="en-US" sz="2375" b="true">
                  <a:solidFill>
                    <a:srgbClr val="D7D4CC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Example: page 3 maps to frame 6.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2351692" y="4323904"/>
            <a:ext cx="3429000" cy="428625"/>
            <a:chOff x="0" y="0"/>
            <a:chExt cx="4572000" cy="5715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572000" cy="571500"/>
            </a:xfrm>
            <a:custGeom>
              <a:avLst/>
              <a:gdLst/>
              <a:ahLst/>
              <a:cxnLst/>
              <a:rect r="r" b="b" t="t" l="l"/>
              <a:pathLst>
                <a:path h="5715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571500"/>
                  </a:lnTo>
                  <a:lnTo>
                    <a:pt x="0" y="5715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4572000" cy="59055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374"/>
                </a:lnSpc>
              </a:pPr>
              <a:r>
                <a:rPr lang="en-US" sz="2687" b="true">
                  <a:solidFill>
                    <a:srgbClr val="FFE14D"/>
                  </a:solidFill>
                  <a:latin typeface="Comfortaa Bold"/>
                  <a:ea typeface="Comfortaa Bold"/>
                  <a:cs typeface="Comfortaa Bold"/>
                  <a:sym typeface="Comfortaa Bold"/>
                </a:rPr>
                <a:t>Physical Address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2351692" y="5061049"/>
            <a:ext cx="4873526" cy="987624"/>
            <a:chOff x="0" y="0"/>
            <a:chExt cx="6498035" cy="131683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498035" cy="1316832"/>
            </a:xfrm>
            <a:custGeom>
              <a:avLst/>
              <a:gdLst/>
              <a:ahLst/>
              <a:cxnLst/>
              <a:rect r="r" b="b" t="t" l="l"/>
              <a:pathLst>
                <a:path h="1316832" w="6498035">
                  <a:moveTo>
                    <a:pt x="0" y="0"/>
                  </a:moveTo>
                  <a:lnTo>
                    <a:pt x="6498035" y="0"/>
                  </a:lnTo>
                  <a:lnTo>
                    <a:pt x="6498035" y="1316832"/>
                  </a:lnTo>
                  <a:lnTo>
                    <a:pt x="0" y="13168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04775"/>
              <a:ext cx="6498035" cy="142160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875"/>
                </a:lnSpc>
              </a:pPr>
              <a:r>
                <a:rPr lang="en-US" sz="2375" b="true">
                  <a:solidFill>
                    <a:srgbClr val="D7D4CC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Computed as frame number × page size + offset.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2351692" y="6326386"/>
            <a:ext cx="4873526" cy="987624"/>
            <a:chOff x="0" y="0"/>
            <a:chExt cx="6498035" cy="131683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498035" cy="1316832"/>
            </a:xfrm>
            <a:custGeom>
              <a:avLst/>
              <a:gdLst/>
              <a:ahLst/>
              <a:cxnLst/>
              <a:rect r="r" b="b" t="t" l="l"/>
              <a:pathLst>
                <a:path h="1316832" w="6498035">
                  <a:moveTo>
                    <a:pt x="0" y="0"/>
                  </a:moveTo>
                  <a:lnTo>
                    <a:pt x="6498035" y="0"/>
                  </a:lnTo>
                  <a:lnTo>
                    <a:pt x="6498035" y="1316832"/>
                  </a:lnTo>
                  <a:lnTo>
                    <a:pt x="0" y="13168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04775"/>
              <a:ext cx="6498035" cy="142160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875"/>
                </a:lnSpc>
              </a:pPr>
              <a:r>
                <a:rPr lang="en-US" sz="2375" b="true">
                  <a:solidFill>
                    <a:srgbClr val="D7D4CC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Example: (3, 100) → (6 × 4096 + 100) = physical address.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B1B1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7272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80046" y="2429619"/>
            <a:ext cx="16127909" cy="1714500"/>
            <a:chOff x="0" y="0"/>
            <a:chExt cx="21503878" cy="228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503878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503878">
                  <a:moveTo>
                    <a:pt x="0" y="0"/>
                  </a:moveTo>
                  <a:lnTo>
                    <a:pt x="21503878" y="0"/>
                  </a:lnTo>
                  <a:lnTo>
                    <a:pt x="21503878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1503878" cy="232410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6749"/>
                </a:lnSpc>
              </a:pPr>
              <a:r>
                <a:rPr lang="en-US" sz="5374" b="true">
                  <a:solidFill>
                    <a:srgbClr val="FFE14D"/>
                  </a:solidFill>
                  <a:latin typeface="Comfortaa Bold"/>
                  <a:ea typeface="Comfortaa Bold"/>
                  <a:cs typeface="Comfortaa Bold"/>
                  <a:sym typeface="Comfortaa Bold"/>
                </a:rPr>
                <a:t>Segmentation vs. Paging: Advantages and Disadvantages</a:t>
              </a:r>
            </a:p>
          </p:txBody>
        </p:sp>
      </p:grpSp>
      <p:sp>
        <p:nvSpPr>
          <p:cNvPr name="Freeform 9" id="9" descr="preencoded.png"/>
          <p:cNvSpPr/>
          <p:nvPr/>
        </p:nvSpPr>
        <p:spPr>
          <a:xfrm flipH="false" flipV="false" rot="0">
            <a:off x="1080046" y="4815185"/>
            <a:ext cx="771525" cy="771525"/>
          </a:xfrm>
          <a:custGeom>
            <a:avLst/>
            <a:gdLst/>
            <a:ahLst/>
            <a:cxnLst/>
            <a:rect r="r" b="b" t="t" l="l"/>
            <a:pathLst>
              <a:path h="771525" w="771525">
                <a:moveTo>
                  <a:pt x="0" y="0"/>
                </a:moveTo>
                <a:lnTo>
                  <a:pt x="771525" y="0"/>
                </a:lnTo>
                <a:lnTo>
                  <a:pt x="771525" y="771525"/>
                </a:lnTo>
                <a:lnTo>
                  <a:pt x="0" y="7715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2160091" y="4944516"/>
            <a:ext cx="3429000" cy="428625"/>
            <a:chOff x="0" y="0"/>
            <a:chExt cx="4572000" cy="5715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572000" cy="571500"/>
            </a:xfrm>
            <a:custGeom>
              <a:avLst/>
              <a:gdLst/>
              <a:ahLst/>
              <a:cxnLst/>
              <a:rect r="r" b="b" t="t" l="l"/>
              <a:pathLst>
                <a:path h="5715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571500"/>
                  </a:lnTo>
                  <a:lnTo>
                    <a:pt x="0" y="5715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4572000" cy="59055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374"/>
                </a:lnSpc>
              </a:pPr>
              <a:r>
                <a:rPr lang="en-US" sz="2687" b="true">
                  <a:solidFill>
                    <a:srgbClr val="D7D4CC"/>
                  </a:solidFill>
                  <a:latin typeface="Comfortaa Bold"/>
                  <a:ea typeface="Comfortaa Bold"/>
                  <a:cs typeface="Comfortaa Bold"/>
                  <a:sym typeface="Comfortaa Bold"/>
                </a:rPr>
                <a:t>Segmentation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160091" y="5558284"/>
            <a:ext cx="6791027" cy="493811"/>
            <a:chOff x="0" y="0"/>
            <a:chExt cx="9054703" cy="65841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054703" cy="658415"/>
            </a:xfrm>
            <a:custGeom>
              <a:avLst/>
              <a:gdLst/>
              <a:ahLst/>
              <a:cxnLst/>
              <a:rect r="r" b="b" t="t" l="l"/>
              <a:pathLst>
                <a:path h="658415" w="9054703">
                  <a:moveTo>
                    <a:pt x="0" y="0"/>
                  </a:moveTo>
                  <a:lnTo>
                    <a:pt x="9054703" y="0"/>
                  </a:lnTo>
                  <a:lnTo>
                    <a:pt x="9054703" y="658415"/>
                  </a:lnTo>
                  <a:lnTo>
                    <a:pt x="0" y="6584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04775"/>
              <a:ext cx="9054703" cy="76319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358180" indent="-179090" lvl="1">
                <a:lnSpc>
                  <a:spcPts val="3875"/>
                </a:lnSpc>
                <a:buFont typeface="Arial"/>
                <a:buChar char="•"/>
              </a:pPr>
              <a:r>
                <a:rPr lang="en-US" b="true" sz="2375">
                  <a:solidFill>
                    <a:srgbClr val="D7D4CC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Logical organization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160091" y="6159996"/>
            <a:ext cx="6791027" cy="493811"/>
            <a:chOff x="0" y="0"/>
            <a:chExt cx="9054703" cy="65841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054703" cy="658415"/>
            </a:xfrm>
            <a:custGeom>
              <a:avLst/>
              <a:gdLst/>
              <a:ahLst/>
              <a:cxnLst/>
              <a:rect r="r" b="b" t="t" l="l"/>
              <a:pathLst>
                <a:path h="658415" w="9054703">
                  <a:moveTo>
                    <a:pt x="0" y="0"/>
                  </a:moveTo>
                  <a:lnTo>
                    <a:pt x="9054703" y="0"/>
                  </a:lnTo>
                  <a:lnTo>
                    <a:pt x="9054703" y="658415"/>
                  </a:lnTo>
                  <a:lnTo>
                    <a:pt x="0" y="6584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04775"/>
              <a:ext cx="9054703" cy="76319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358180" indent="-179090" lvl="1">
                <a:lnSpc>
                  <a:spcPts val="3875"/>
                </a:lnSpc>
                <a:buFont typeface="Arial"/>
                <a:buChar char="•"/>
              </a:pPr>
              <a:r>
                <a:rPr lang="en-US" b="true" sz="2375">
                  <a:solidFill>
                    <a:srgbClr val="D7D4CC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Supports protection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160091" y="6761709"/>
            <a:ext cx="6791027" cy="493811"/>
            <a:chOff x="0" y="0"/>
            <a:chExt cx="9054703" cy="65841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054703" cy="658415"/>
            </a:xfrm>
            <a:custGeom>
              <a:avLst/>
              <a:gdLst/>
              <a:ahLst/>
              <a:cxnLst/>
              <a:rect r="r" b="b" t="t" l="l"/>
              <a:pathLst>
                <a:path h="658415" w="9054703">
                  <a:moveTo>
                    <a:pt x="0" y="0"/>
                  </a:moveTo>
                  <a:lnTo>
                    <a:pt x="9054703" y="0"/>
                  </a:lnTo>
                  <a:lnTo>
                    <a:pt x="9054703" y="658415"/>
                  </a:lnTo>
                  <a:lnTo>
                    <a:pt x="0" y="6584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04775"/>
              <a:ext cx="9054703" cy="76319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358180" indent="-179090" lvl="1">
                <a:lnSpc>
                  <a:spcPts val="3875"/>
                </a:lnSpc>
                <a:buFont typeface="Arial"/>
                <a:buChar char="•"/>
              </a:pPr>
              <a:r>
                <a:rPr lang="en-US" b="true" sz="2375">
                  <a:solidFill>
                    <a:srgbClr val="D7D4CC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External fragmentation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2160091" y="7363420"/>
            <a:ext cx="6791027" cy="493811"/>
            <a:chOff x="0" y="0"/>
            <a:chExt cx="9054703" cy="65841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054703" cy="658415"/>
            </a:xfrm>
            <a:custGeom>
              <a:avLst/>
              <a:gdLst/>
              <a:ahLst/>
              <a:cxnLst/>
              <a:rect r="r" b="b" t="t" l="l"/>
              <a:pathLst>
                <a:path h="658415" w="9054703">
                  <a:moveTo>
                    <a:pt x="0" y="0"/>
                  </a:moveTo>
                  <a:lnTo>
                    <a:pt x="9054703" y="0"/>
                  </a:lnTo>
                  <a:lnTo>
                    <a:pt x="9054703" y="658415"/>
                  </a:lnTo>
                  <a:lnTo>
                    <a:pt x="0" y="6584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04775"/>
              <a:ext cx="9054703" cy="76319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358180" indent="-179090" lvl="1">
                <a:lnSpc>
                  <a:spcPts val="3875"/>
                </a:lnSpc>
                <a:buFont typeface="Arial"/>
                <a:buChar char="•"/>
              </a:pPr>
              <a:r>
                <a:rPr lang="en-US" b="true" sz="2375">
                  <a:solidFill>
                    <a:srgbClr val="D7D4CC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Complex management</a:t>
              </a:r>
            </a:p>
          </p:txBody>
        </p:sp>
      </p:grpSp>
      <p:sp>
        <p:nvSpPr>
          <p:cNvPr name="Freeform 25" id="25" descr="preencoded.png"/>
          <p:cNvSpPr/>
          <p:nvPr/>
        </p:nvSpPr>
        <p:spPr>
          <a:xfrm flipH="false" flipV="false" rot="0">
            <a:off x="9336881" y="4815185"/>
            <a:ext cx="771525" cy="771525"/>
          </a:xfrm>
          <a:custGeom>
            <a:avLst/>
            <a:gdLst/>
            <a:ahLst/>
            <a:cxnLst/>
            <a:rect r="r" b="b" t="t" l="l"/>
            <a:pathLst>
              <a:path h="771525" w="771525">
                <a:moveTo>
                  <a:pt x="0" y="0"/>
                </a:moveTo>
                <a:lnTo>
                  <a:pt x="771525" y="0"/>
                </a:lnTo>
                <a:lnTo>
                  <a:pt x="771525" y="771525"/>
                </a:lnTo>
                <a:lnTo>
                  <a:pt x="0" y="7715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10416927" y="4944516"/>
            <a:ext cx="3429000" cy="428625"/>
            <a:chOff x="0" y="0"/>
            <a:chExt cx="4572000" cy="5715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572000" cy="571500"/>
            </a:xfrm>
            <a:custGeom>
              <a:avLst/>
              <a:gdLst/>
              <a:ahLst/>
              <a:cxnLst/>
              <a:rect r="r" b="b" t="t" l="l"/>
              <a:pathLst>
                <a:path h="5715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571500"/>
                  </a:lnTo>
                  <a:lnTo>
                    <a:pt x="0" y="5715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4572000" cy="59055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374"/>
                </a:lnSpc>
              </a:pPr>
              <a:r>
                <a:rPr lang="en-US" sz="2687" b="true">
                  <a:solidFill>
                    <a:srgbClr val="D7D4CC"/>
                  </a:solidFill>
                  <a:latin typeface="Comfortaa Bold"/>
                  <a:ea typeface="Comfortaa Bold"/>
                  <a:cs typeface="Comfortaa Bold"/>
                  <a:sym typeface="Comfortaa Bold"/>
                </a:rPr>
                <a:t>Paging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416927" y="5558284"/>
            <a:ext cx="6791027" cy="493811"/>
            <a:chOff x="0" y="0"/>
            <a:chExt cx="9054703" cy="65841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054703" cy="658415"/>
            </a:xfrm>
            <a:custGeom>
              <a:avLst/>
              <a:gdLst/>
              <a:ahLst/>
              <a:cxnLst/>
              <a:rect r="r" b="b" t="t" l="l"/>
              <a:pathLst>
                <a:path h="658415" w="9054703">
                  <a:moveTo>
                    <a:pt x="0" y="0"/>
                  </a:moveTo>
                  <a:lnTo>
                    <a:pt x="9054703" y="0"/>
                  </a:lnTo>
                  <a:lnTo>
                    <a:pt x="9054703" y="658415"/>
                  </a:lnTo>
                  <a:lnTo>
                    <a:pt x="0" y="6584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04775"/>
              <a:ext cx="9054703" cy="76319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358180" indent="-179090" lvl="1">
                <a:lnSpc>
                  <a:spcPts val="3875"/>
                </a:lnSpc>
                <a:buFont typeface="Arial"/>
                <a:buChar char="•"/>
              </a:pPr>
              <a:r>
                <a:rPr lang="en-US" b="true" sz="2375">
                  <a:solidFill>
                    <a:srgbClr val="D7D4CC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No external fragmentation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416927" y="6159996"/>
            <a:ext cx="6791027" cy="493811"/>
            <a:chOff x="0" y="0"/>
            <a:chExt cx="9054703" cy="65841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054703" cy="658415"/>
            </a:xfrm>
            <a:custGeom>
              <a:avLst/>
              <a:gdLst/>
              <a:ahLst/>
              <a:cxnLst/>
              <a:rect r="r" b="b" t="t" l="l"/>
              <a:pathLst>
                <a:path h="658415" w="9054703">
                  <a:moveTo>
                    <a:pt x="0" y="0"/>
                  </a:moveTo>
                  <a:lnTo>
                    <a:pt x="9054703" y="0"/>
                  </a:lnTo>
                  <a:lnTo>
                    <a:pt x="9054703" y="658415"/>
                  </a:lnTo>
                  <a:lnTo>
                    <a:pt x="0" y="6584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04775"/>
              <a:ext cx="9054703" cy="76319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358180" indent="-179090" lvl="1">
                <a:lnSpc>
                  <a:spcPts val="3875"/>
                </a:lnSpc>
                <a:buFont typeface="Arial"/>
                <a:buChar char="•"/>
              </a:pPr>
              <a:r>
                <a:rPr lang="en-US" b="true" sz="2375">
                  <a:solidFill>
                    <a:srgbClr val="D7D4CC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Simple management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416927" y="6761709"/>
            <a:ext cx="6791027" cy="493811"/>
            <a:chOff x="0" y="0"/>
            <a:chExt cx="9054703" cy="65841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054703" cy="658415"/>
            </a:xfrm>
            <a:custGeom>
              <a:avLst/>
              <a:gdLst/>
              <a:ahLst/>
              <a:cxnLst/>
              <a:rect r="r" b="b" t="t" l="l"/>
              <a:pathLst>
                <a:path h="658415" w="9054703">
                  <a:moveTo>
                    <a:pt x="0" y="0"/>
                  </a:moveTo>
                  <a:lnTo>
                    <a:pt x="9054703" y="0"/>
                  </a:lnTo>
                  <a:lnTo>
                    <a:pt x="9054703" y="658415"/>
                  </a:lnTo>
                  <a:lnTo>
                    <a:pt x="0" y="6584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04775"/>
              <a:ext cx="9054703" cy="76319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358180" indent="-179090" lvl="1">
                <a:lnSpc>
                  <a:spcPts val="3875"/>
                </a:lnSpc>
                <a:buFont typeface="Arial"/>
                <a:buChar char="•"/>
              </a:pPr>
              <a:r>
                <a:rPr lang="en-US" b="true" sz="2375">
                  <a:solidFill>
                    <a:srgbClr val="D7D4CC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Internal fragmentation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416927" y="7363420"/>
            <a:ext cx="6791027" cy="493811"/>
            <a:chOff x="0" y="0"/>
            <a:chExt cx="9054703" cy="65841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054703" cy="658415"/>
            </a:xfrm>
            <a:custGeom>
              <a:avLst/>
              <a:gdLst/>
              <a:ahLst/>
              <a:cxnLst/>
              <a:rect r="r" b="b" t="t" l="l"/>
              <a:pathLst>
                <a:path h="658415" w="9054703">
                  <a:moveTo>
                    <a:pt x="0" y="0"/>
                  </a:moveTo>
                  <a:lnTo>
                    <a:pt x="9054703" y="0"/>
                  </a:lnTo>
                  <a:lnTo>
                    <a:pt x="9054703" y="658415"/>
                  </a:lnTo>
                  <a:lnTo>
                    <a:pt x="0" y="6584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04775"/>
              <a:ext cx="9054703" cy="76319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358180" indent="-179090" lvl="1">
                <a:lnSpc>
                  <a:spcPts val="3875"/>
                </a:lnSpc>
                <a:buFont typeface="Arial"/>
                <a:buChar char="•"/>
              </a:pPr>
              <a:r>
                <a:rPr lang="en-US" b="true" sz="2375">
                  <a:solidFill>
                    <a:srgbClr val="D7D4CC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Page table overhead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B1B1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7272B"/>
            </a:solidFill>
          </p:spPr>
        </p:sp>
      </p:grpSp>
      <p:sp>
        <p:nvSpPr>
          <p:cNvPr name="Freeform 6" id="6" descr="preencoded.png"/>
          <p:cNvSpPr/>
          <p:nvPr/>
        </p:nvSpPr>
        <p:spPr>
          <a:xfrm flipH="false" flipV="false" rot="0">
            <a:off x="0" y="0"/>
            <a:ext cx="6858000" cy="10287000"/>
          </a:xfrm>
          <a:custGeom>
            <a:avLst/>
            <a:gdLst/>
            <a:ahLst/>
            <a:cxnLst/>
            <a:rect r="r" b="b" t="t" l="l"/>
            <a:pathLst>
              <a:path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7938046" y="2885480"/>
            <a:ext cx="9269909" cy="2571750"/>
            <a:chOff x="0" y="0"/>
            <a:chExt cx="12359878" cy="3429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359878" cy="3429000"/>
            </a:xfrm>
            <a:custGeom>
              <a:avLst/>
              <a:gdLst/>
              <a:ahLst/>
              <a:cxnLst/>
              <a:rect r="r" b="b" t="t" l="l"/>
              <a:pathLst>
                <a:path h="3429000" w="12359878">
                  <a:moveTo>
                    <a:pt x="0" y="0"/>
                  </a:moveTo>
                  <a:lnTo>
                    <a:pt x="12359878" y="0"/>
                  </a:lnTo>
                  <a:lnTo>
                    <a:pt x="12359878" y="3429000"/>
                  </a:lnTo>
                  <a:lnTo>
                    <a:pt x="0" y="3429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2359878" cy="346710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6749"/>
                </a:lnSpc>
              </a:pPr>
              <a:r>
                <a:rPr lang="en-US" sz="5374" b="true">
                  <a:solidFill>
                    <a:srgbClr val="FFE14D"/>
                  </a:solidFill>
                  <a:latin typeface="Comfortaa Bold"/>
                  <a:ea typeface="Comfortaa Bold"/>
                  <a:cs typeface="Comfortaa Bold"/>
                  <a:sym typeface="Comfortaa Bold"/>
                </a:rPr>
                <a:t>Segmentation and Paging: Combined Approach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938046" y="5920085"/>
            <a:ext cx="9269909" cy="1481435"/>
            <a:chOff x="0" y="0"/>
            <a:chExt cx="12359878" cy="197524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359878" cy="1975247"/>
            </a:xfrm>
            <a:custGeom>
              <a:avLst/>
              <a:gdLst/>
              <a:ahLst/>
              <a:cxnLst/>
              <a:rect r="r" b="b" t="t" l="l"/>
              <a:pathLst>
                <a:path h="1975247" w="12359878">
                  <a:moveTo>
                    <a:pt x="0" y="0"/>
                  </a:moveTo>
                  <a:lnTo>
                    <a:pt x="12359878" y="0"/>
                  </a:lnTo>
                  <a:lnTo>
                    <a:pt x="12359878" y="1975247"/>
                  </a:lnTo>
                  <a:lnTo>
                    <a:pt x="0" y="19752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04775"/>
              <a:ext cx="12359878" cy="208002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875"/>
                </a:lnSpc>
              </a:pPr>
              <a:r>
                <a:rPr lang="en-US" sz="2375" b="true">
                  <a:solidFill>
                    <a:srgbClr val="D7D4CC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The Intel x86 architecture uses segmentation for logical division and paging for physical memory efficiency. Combining both allows flexible, secure, and efficient memory management.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B1B1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7272B"/>
            </a:solidFill>
          </p:spPr>
        </p:sp>
      </p:grpSp>
      <p:sp>
        <p:nvSpPr>
          <p:cNvPr name="Freeform 6" id="6" descr="preencoded.png"/>
          <p:cNvSpPr/>
          <p:nvPr/>
        </p:nvSpPr>
        <p:spPr>
          <a:xfrm flipH="false" flipV="false" rot="0">
            <a:off x="11430000" y="12800"/>
            <a:ext cx="6858000" cy="10287000"/>
          </a:xfrm>
          <a:custGeom>
            <a:avLst/>
            <a:gdLst/>
            <a:ahLst/>
            <a:cxnLst/>
            <a:rect r="r" b="b" t="t" l="l"/>
            <a:pathLst>
              <a:path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02952" y="789831"/>
            <a:ext cx="9424095" cy="1591866"/>
            <a:chOff x="0" y="0"/>
            <a:chExt cx="12565460" cy="212248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565460" cy="2122488"/>
            </a:xfrm>
            <a:custGeom>
              <a:avLst/>
              <a:gdLst/>
              <a:ahLst/>
              <a:cxnLst/>
              <a:rect r="r" b="b" t="t" l="l"/>
              <a:pathLst>
                <a:path h="2122488" w="12565460">
                  <a:moveTo>
                    <a:pt x="0" y="0"/>
                  </a:moveTo>
                  <a:lnTo>
                    <a:pt x="12565460" y="0"/>
                  </a:lnTo>
                  <a:lnTo>
                    <a:pt x="12565460" y="2122488"/>
                  </a:lnTo>
                  <a:lnTo>
                    <a:pt x="0" y="21224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2565460" cy="215106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6249"/>
                </a:lnSpc>
              </a:pPr>
              <a:r>
                <a:rPr lang="en-US" sz="4999" b="true">
                  <a:solidFill>
                    <a:srgbClr val="FFE14D"/>
                  </a:solidFill>
                  <a:latin typeface="Comfortaa Bold"/>
                  <a:ea typeface="Comfortaa Bold"/>
                  <a:cs typeface="Comfortaa Bold"/>
                  <a:sym typeface="Comfortaa Bold"/>
                </a:rPr>
                <a:t>Conclusion: Choosing the Right Technique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02952" y="2811512"/>
            <a:ext cx="644724" cy="644724"/>
            <a:chOff x="0" y="0"/>
            <a:chExt cx="859632" cy="85963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59663" cy="859663"/>
            </a:xfrm>
            <a:custGeom>
              <a:avLst/>
              <a:gdLst/>
              <a:ahLst/>
              <a:cxnLst/>
              <a:rect r="r" b="b" t="t" l="l"/>
              <a:pathLst>
                <a:path h="859663" w="859663">
                  <a:moveTo>
                    <a:pt x="0" y="429768"/>
                  </a:moveTo>
                  <a:cubicBezTo>
                    <a:pt x="0" y="192405"/>
                    <a:pt x="192405" y="0"/>
                    <a:pt x="429768" y="0"/>
                  </a:cubicBezTo>
                  <a:cubicBezTo>
                    <a:pt x="667131" y="0"/>
                    <a:pt x="859663" y="192405"/>
                    <a:pt x="859663" y="429768"/>
                  </a:cubicBezTo>
                  <a:cubicBezTo>
                    <a:pt x="859663" y="667131"/>
                    <a:pt x="667258" y="859663"/>
                    <a:pt x="429768" y="859663"/>
                  </a:cubicBezTo>
                  <a:cubicBezTo>
                    <a:pt x="192278" y="859663"/>
                    <a:pt x="0" y="667258"/>
                    <a:pt x="0" y="429768"/>
                  </a:cubicBezTo>
                  <a:close/>
                </a:path>
              </a:pathLst>
            </a:custGeom>
            <a:solidFill>
              <a:srgbClr val="46464A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934170" y="2909888"/>
            <a:ext cx="3184178" cy="398115"/>
            <a:chOff x="0" y="0"/>
            <a:chExt cx="4245570" cy="5308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245570" cy="530820"/>
            </a:xfrm>
            <a:custGeom>
              <a:avLst/>
              <a:gdLst/>
              <a:ahLst/>
              <a:cxnLst/>
              <a:rect r="r" b="b" t="t" l="l"/>
              <a:pathLst>
                <a:path h="530820" w="4245570">
                  <a:moveTo>
                    <a:pt x="0" y="0"/>
                  </a:moveTo>
                  <a:lnTo>
                    <a:pt x="4245570" y="0"/>
                  </a:lnTo>
                  <a:lnTo>
                    <a:pt x="4245570" y="530820"/>
                  </a:lnTo>
                  <a:lnTo>
                    <a:pt x="0" y="5308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4245570" cy="54987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124"/>
                </a:lnSpc>
              </a:pPr>
              <a:r>
                <a:rPr lang="en-US" sz="2499" b="true">
                  <a:solidFill>
                    <a:srgbClr val="D7D4CC"/>
                  </a:solidFill>
                  <a:latin typeface="Comfortaa Bold"/>
                  <a:ea typeface="Comfortaa Bold"/>
                  <a:cs typeface="Comfortaa Bold"/>
                  <a:sym typeface="Comfortaa Bold"/>
                </a:rPr>
                <a:t>Segmentation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934170" y="3479899"/>
            <a:ext cx="8492878" cy="458540"/>
            <a:chOff x="0" y="0"/>
            <a:chExt cx="11323837" cy="61138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323837" cy="611387"/>
            </a:xfrm>
            <a:custGeom>
              <a:avLst/>
              <a:gdLst/>
              <a:ahLst/>
              <a:cxnLst/>
              <a:rect r="r" b="b" t="t" l="l"/>
              <a:pathLst>
                <a:path h="611387" w="11323837">
                  <a:moveTo>
                    <a:pt x="0" y="0"/>
                  </a:moveTo>
                  <a:lnTo>
                    <a:pt x="11323837" y="0"/>
                  </a:lnTo>
                  <a:lnTo>
                    <a:pt x="11323837" y="611387"/>
                  </a:lnTo>
                  <a:lnTo>
                    <a:pt x="0" y="61138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85725"/>
              <a:ext cx="11323837" cy="69711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249" b="true">
                  <a:solidFill>
                    <a:srgbClr val="D7D4CC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Best for logical memory organization.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02952" y="4511576"/>
            <a:ext cx="644724" cy="644724"/>
            <a:chOff x="0" y="0"/>
            <a:chExt cx="859632" cy="85963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59663" cy="859663"/>
            </a:xfrm>
            <a:custGeom>
              <a:avLst/>
              <a:gdLst/>
              <a:ahLst/>
              <a:cxnLst/>
              <a:rect r="r" b="b" t="t" l="l"/>
              <a:pathLst>
                <a:path h="859663" w="859663">
                  <a:moveTo>
                    <a:pt x="0" y="429768"/>
                  </a:moveTo>
                  <a:cubicBezTo>
                    <a:pt x="0" y="192405"/>
                    <a:pt x="192405" y="0"/>
                    <a:pt x="429768" y="0"/>
                  </a:cubicBezTo>
                  <a:cubicBezTo>
                    <a:pt x="667131" y="0"/>
                    <a:pt x="859663" y="192405"/>
                    <a:pt x="859663" y="429768"/>
                  </a:cubicBezTo>
                  <a:cubicBezTo>
                    <a:pt x="859663" y="667131"/>
                    <a:pt x="667258" y="859663"/>
                    <a:pt x="429768" y="859663"/>
                  </a:cubicBezTo>
                  <a:cubicBezTo>
                    <a:pt x="192278" y="859663"/>
                    <a:pt x="0" y="667258"/>
                    <a:pt x="0" y="429768"/>
                  </a:cubicBezTo>
                  <a:close/>
                </a:path>
              </a:pathLst>
            </a:custGeom>
            <a:solidFill>
              <a:srgbClr val="46464A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934170" y="4609951"/>
            <a:ext cx="3184178" cy="398115"/>
            <a:chOff x="0" y="0"/>
            <a:chExt cx="4245570" cy="5308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245570" cy="530820"/>
            </a:xfrm>
            <a:custGeom>
              <a:avLst/>
              <a:gdLst/>
              <a:ahLst/>
              <a:cxnLst/>
              <a:rect r="r" b="b" t="t" l="l"/>
              <a:pathLst>
                <a:path h="530820" w="4245570">
                  <a:moveTo>
                    <a:pt x="0" y="0"/>
                  </a:moveTo>
                  <a:lnTo>
                    <a:pt x="4245570" y="0"/>
                  </a:lnTo>
                  <a:lnTo>
                    <a:pt x="4245570" y="530820"/>
                  </a:lnTo>
                  <a:lnTo>
                    <a:pt x="0" y="5308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4245570" cy="54987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124"/>
                </a:lnSpc>
              </a:pPr>
              <a:r>
                <a:rPr lang="en-US" sz="2499" b="true">
                  <a:solidFill>
                    <a:srgbClr val="D7D4CC"/>
                  </a:solidFill>
                  <a:latin typeface="Comfortaa Bold"/>
                  <a:ea typeface="Comfortaa Bold"/>
                  <a:cs typeface="Comfortaa Bold"/>
                  <a:sym typeface="Comfortaa Bold"/>
                </a:rPr>
                <a:t>Paging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25314" y="5327750"/>
            <a:ext cx="8492878" cy="458540"/>
            <a:chOff x="0" y="0"/>
            <a:chExt cx="11323837" cy="61138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323837" cy="611387"/>
            </a:xfrm>
            <a:custGeom>
              <a:avLst/>
              <a:gdLst/>
              <a:ahLst/>
              <a:cxnLst/>
              <a:rect r="r" b="b" t="t" l="l"/>
              <a:pathLst>
                <a:path h="611387" w="11323837">
                  <a:moveTo>
                    <a:pt x="0" y="0"/>
                  </a:moveTo>
                  <a:lnTo>
                    <a:pt x="11323837" y="0"/>
                  </a:lnTo>
                  <a:lnTo>
                    <a:pt x="11323837" y="611387"/>
                  </a:lnTo>
                  <a:lnTo>
                    <a:pt x="0" y="61138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85725"/>
              <a:ext cx="11323837" cy="69711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249" b="true">
                  <a:solidFill>
                    <a:srgbClr val="D7D4CC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Optimizes physical memory use.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02952" y="6211640"/>
            <a:ext cx="644724" cy="644724"/>
            <a:chOff x="0" y="0"/>
            <a:chExt cx="859632" cy="85963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59663" cy="859663"/>
            </a:xfrm>
            <a:custGeom>
              <a:avLst/>
              <a:gdLst/>
              <a:ahLst/>
              <a:cxnLst/>
              <a:rect r="r" b="b" t="t" l="l"/>
              <a:pathLst>
                <a:path h="859663" w="859663">
                  <a:moveTo>
                    <a:pt x="0" y="429768"/>
                  </a:moveTo>
                  <a:cubicBezTo>
                    <a:pt x="0" y="192405"/>
                    <a:pt x="192405" y="0"/>
                    <a:pt x="429768" y="0"/>
                  </a:cubicBezTo>
                  <a:cubicBezTo>
                    <a:pt x="667131" y="0"/>
                    <a:pt x="859663" y="192405"/>
                    <a:pt x="859663" y="429768"/>
                  </a:cubicBezTo>
                  <a:cubicBezTo>
                    <a:pt x="859663" y="667131"/>
                    <a:pt x="667258" y="859663"/>
                    <a:pt x="429768" y="859663"/>
                  </a:cubicBezTo>
                  <a:cubicBezTo>
                    <a:pt x="192278" y="859663"/>
                    <a:pt x="0" y="667258"/>
                    <a:pt x="0" y="429768"/>
                  </a:cubicBezTo>
                  <a:close/>
                </a:path>
              </a:pathLst>
            </a:custGeom>
            <a:solidFill>
              <a:srgbClr val="46464A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934170" y="6310015"/>
            <a:ext cx="3184178" cy="398115"/>
            <a:chOff x="0" y="0"/>
            <a:chExt cx="4245570" cy="5308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245570" cy="530820"/>
            </a:xfrm>
            <a:custGeom>
              <a:avLst/>
              <a:gdLst/>
              <a:ahLst/>
              <a:cxnLst/>
              <a:rect r="r" b="b" t="t" l="l"/>
              <a:pathLst>
                <a:path h="530820" w="4245570">
                  <a:moveTo>
                    <a:pt x="0" y="0"/>
                  </a:moveTo>
                  <a:lnTo>
                    <a:pt x="4245570" y="0"/>
                  </a:lnTo>
                  <a:lnTo>
                    <a:pt x="4245570" y="530820"/>
                  </a:lnTo>
                  <a:lnTo>
                    <a:pt x="0" y="5308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4245570" cy="54987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124"/>
                </a:lnSpc>
              </a:pPr>
              <a:r>
                <a:rPr lang="en-US" sz="2499" b="true">
                  <a:solidFill>
                    <a:srgbClr val="D7D4CC"/>
                  </a:solidFill>
                  <a:latin typeface="Comfortaa Bold"/>
                  <a:ea typeface="Comfortaa Bold"/>
                  <a:cs typeface="Comfortaa Bold"/>
                  <a:sym typeface="Comfortaa Bold"/>
                </a:rPr>
                <a:t>Hybrid Approach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934170" y="6880026"/>
            <a:ext cx="8492878" cy="458540"/>
            <a:chOff x="0" y="0"/>
            <a:chExt cx="11323837" cy="61138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323837" cy="611387"/>
            </a:xfrm>
            <a:custGeom>
              <a:avLst/>
              <a:gdLst/>
              <a:ahLst/>
              <a:cxnLst/>
              <a:rect r="r" b="b" t="t" l="l"/>
              <a:pathLst>
                <a:path h="611387" w="11323837">
                  <a:moveTo>
                    <a:pt x="0" y="0"/>
                  </a:moveTo>
                  <a:lnTo>
                    <a:pt x="11323837" y="0"/>
                  </a:lnTo>
                  <a:lnTo>
                    <a:pt x="11323837" y="611387"/>
                  </a:lnTo>
                  <a:lnTo>
                    <a:pt x="0" y="61138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85725"/>
              <a:ext cx="11323837" cy="69711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249" b="true">
                  <a:solidFill>
                    <a:srgbClr val="D7D4CC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Balances the strengths of both techniques.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02952" y="7911704"/>
            <a:ext cx="644724" cy="644724"/>
            <a:chOff x="0" y="0"/>
            <a:chExt cx="859632" cy="85963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59663" cy="859663"/>
            </a:xfrm>
            <a:custGeom>
              <a:avLst/>
              <a:gdLst/>
              <a:ahLst/>
              <a:cxnLst/>
              <a:rect r="r" b="b" t="t" l="l"/>
              <a:pathLst>
                <a:path h="859663" w="859663">
                  <a:moveTo>
                    <a:pt x="0" y="429768"/>
                  </a:moveTo>
                  <a:cubicBezTo>
                    <a:pt x="0" y="192405"/>
                    <a:pt x="192405" y="0"/>
                    <a:pt x="429768" y="0"/>
                  </a:cubicBezTo>
                  <a:cubicBezTo>
                    <a:pt x="667131" y="0"/>
                    <a:pt x="859663" y="192405"/>
                    <a:pt x="859663" y="429768"/>
                  </a:cubicBezTo>
                  <a:cubicBezTo>
                    <a:pt x="859663" y="667131"/>
                    <a:pt x="667258" y="859663"/>
                    <a:pt x="429768" y="859663"/>
                  </a:cubicBezTo>
                  <a:cubicBezTo>
                    <a:pt x="192278" y="859663"/>
                    <a:pt x="0" y="667258"/>
                    <a:pt x="0" y="429768"/>
                  </a:cubicBezTo>
                  <a:close/>
                </a:path>
              </a:pathLst>
            </a:custGeom>
            <a:solidFill>
              <a:srgbClr val="46464A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934170" y="8010079"/>
            <a:ext cx="3184178" cy="398115"/>
            <a:chOff x="0" y="0"/>
            <a:chExt cx="4245570" cy="5308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245570" cy="530820"/>
            </a:xfrm>
            <a:custGeom>
              <a:avLst/>
              <a:gdLst/>
              <a:ahLst/>
              <a:cxnLst/>
              <a:rect r="r" b="b" t="t" l="l"/>
              <a:pathLst>
                <a:path h="530820" w="4245570">
                  <a:moveTo>
                    <a:pt x="0" y="0"/>
                  </a:moveTo>
                  <a:lnTo>
                    <a:pt x="4245570" y="0"/>
                  </a:lnTo>
                  <a:lnTo>
                    <a:pt x="4245570" y="530820"/>
                  </a:lnTo>
                  <a:lnTo>
                    <a:pt x="0" y="5308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4245570" cy="54987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124"/>
                </a:lnSpc>
              </a:pPr>
              <a:r>
                <a:rPr lang="en-US" sz="2499" b="true">
                  <a:solidFill>
                    <a:srgbClr val="D7D4CC"/>
                  </a:solidFill>
                  <a:latin typeface="Comfortaa Bold"/>
                  <a:ea typeface="Comfortaa Bold"/>
                  <a:cs typeface="Comfortaa Bold"/>
                  <a:sym typeface="Comfortaa Bold"/>
                </a:rPr>
                <a:t>Future Trends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934170" y="8580090"/>
            <a:ext cx="8492878" cy="917079"/>
            <a:chOff x="0" y="0"/>
            <a:chExt cx="11323837" cy="122277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1323837" cy="1222772"/>
            </a:xfrm>
            <a:custGeom>
              <a:avLst/>
              <a:gdLst/>
              <a:ahLst/>
              <a:cxnLst/>
              <a:rect r="r" b="b" t="t" l="l"/>
              <a:pathLst>
                <a:path h="1222772" w="11323837">
                  <a:moveTo>
                    <a:pt x="0" y="0"/>
                  </a:moveTo>
                  <a:lnTo>
                    <a:pt x="11323837" y="0"/>
                  </a:lnTo>
                  <a:lnTo>
                    <a:pt x="11323837" y="1222772"/>
                  </a:lnTo>
                  <a:lnTo>
                    <a:pt x="0" y="12227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85725"/>
              <a:ext cx="11323837" cy="130849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249" b="true">
                  <a:solidFill>
                    <a:srgbClr val="D7D4CC"/>
                  </a:solidFill>
                  <a:latin typeface="Raleway Medium"/>
                  <a:ea typeface="Raleway Medium"/>
                  <a:cs typeface="Raleway Medium"/>
                  <a:sym typeface="Raleway Medium"/>
                </a:rPr>
                <a:t>Advances in memory management focus on efficiency and security enhancements.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DAGmFpcuJFc</dc:identifier>
  <dcterms:modified xsi:type="dcterms:W3CDTF">2011-08-01T06:04:30Z</dcterms:modified>
  <cp:revision>1</cp:revision>
</cp:coreProperties>
</file>